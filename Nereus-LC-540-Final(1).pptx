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0" r:id="rId7"/>
    <p:sldId id="262" r:id="rId8"/>
    <p:sldId id="263" r:id="rId9"/>
    <p:sldId id="266"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0404C9-C380-45A7-9733-9B9ABE08FB6C}" v="7" dt="2026-04-28T00:05:26.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113" autoAdjust="0"/>
  </p:normalViewPr>
  <p:slideViewPr>
    <p:cSldViewPr snapToGrid="0" snapToObjects="1">
      <p:cViewPr varScale="1">
        <p:scale>
          <a:sx n="129" d="100"/>
          <a:sy n="129" d="100"/>
        </p:scale>
        <p:origin x="149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e Beneventi" userId="bcb2cb89012a92c7" providerId="LiveId" clId="{07DBF7C9-A9CA-43D6-B65A-B2AA1C8B2C72}"/>
    <pc:docChg chg="undo custSel modSld">
      <pc:chgData name="Jesse Beneventi" userId="bcb2cb89012a92c7" providerId="LiveId" clId="{07DBF7C9-A9CA-43D6-B65A-B2AA1C8B2C72}" dt="2026-04-28T00:06:38.685" v="129" actId="20577"/>
      <pc:docMkLst>
        <pc:docMk/>
      </pc:docMkLst>
      <pc:sldChg chg="addSp delSp modSp mod">
        <pc:chgData name="Jesse Beneventi" userId="bcb2cb89012a92c7" providerId="LiveId" clId="{07DBF7C9-A9CA-43D6-B65A-B2AA1C8B2C72}" dt="2026-04-28T00:03:31.355" v="48" actId="1076"/>
        <pc:sldMkLst>
          <pc:docMk/>
          <pc:sldMk cId="0" sldId="258"/>
        </pc:sldMkLst>
        <pc:spChg chg="add del">
          <ac:chgData name="Jesse Beneventi" userId="bcb2cb89012a92c7" providerId="LiveId" clId="{07DBF7C9-A9CA-43D6-B65A-B2AA1C8B2C72}" dt="2026-04-27T23:52:43.439" v="1" actId="478"/>
          <ac:spMkLst>
            <pc:docMk/>
            <pc:sldMk cId="0" sldId="258"/>
            <ac:spMk id="5" creationId="{1821A502-B09A-7812-6527-A2240010B339}"/>
          </ac:spMkLst>
        </pc:spChg>
        <pc:spChg chg="mod">
          <ac:chgData name="Jesse Beneventi" userId="bcb2cb89012a92c7" providerId="LiveId" clId="{07DBF7C9-A9CA-43D6-B65A-B2AA1C8B2C72}" dt="2026-04-28T00:03:31.355" v="48" actId="1076"/>
          <ac:spMkLst>
            <pc:docMk/>
            <pc:sldMk cId="0" sldId="258"/>
            <ac:spMk id="7" creationId="{00000000-0000-0000-0000-000000000000}"/>
          </ac:spMkLst>
        </pc:spChg>
        <pc:spChg chg="add mod">
          <ac:chgData name="Jesse Beneventi" userId="bcb2cb89012a92c7" providerId="LiveId" clId="{07DBF7C9-A9CA-43D6-B65A-B2AA1C8B2C72}" dt="2026-04-28T00:03:31.355" v="48" actId="1076"/>
          <ac:spMkLst>
            <pc:docMk/>
            <pc:sldMk cId="0" sldId="258"/>
            <ac:spMk id="11" creationId="{9D7FFFF3-3F38-D939-8BE8-4EFC106A8C5B}"/>
          </ac:spMkLst>
        </pc:spChg>
        <pc:picChg chg="add mod">
          <ac:chgData name="Jesse Beneventi" userId="bcb2cb89012a92c7" providerId="LiveId" clId="{07DBF7C9-A9CA-43D6-B65A-B2AA1C8B2C72}" dt="2026-04-27T23:53:04.071" v="7" actId="1076"/>
          <ac:picMkLst>
            <pc:docMk/>
            <pc:sldMk cId="0" sldId="258"/>
            <ac:picMk id="10" creationId="{F6107D4F-819E-EA68-6573-7D8693C672FA}"/>
          </ac:picMkLst>
        </pc:picChg>
      </pc:sldChg>
      <pc:sldChg chg="addSp delSp modSp mod">
        <pc:chgData name="Jesse Beneventi" userId="bcb2cb89012a92c7" providerId="LiveId" clId="{07DBF7C9-A9CA-43D6-B65A-B2AA1C8B2C72}" dt="2026-04-28T00:06:26.116" v="102" actId="20577"/>
        <pc:sldMkLst>
          <pc:docMk/>
          <pc:sldMk cId="0" sldId="259"/>
        </pc:sldMkLst>
        <pc:spChg chg="mod">
          <ac:chgData name="Jesse Beneventi" userId="bcb2cb89012a92c7" providerId="LiveId" clId="{07DBF7C9-A9CA-43D6-B65A-B2AA1C8B2C72}" dt="2026-04-28T00:05:42.328" v="71" actId="1076"/>
          <ac:spMkLst>
            <pc:docMk/>
            <pc:sldMk cId="0" sldId="259"/>
            <ac:spMk id="9" creationId="{00000000-0000-0000-0000-000000000000}"/>
          </ac:spMkLst>
        </pc:spChg>
        <pc:spChg chg="mod">
          <ac:chgData name="Jesse Beneventi" userId="bcb2cb89012a92c7" providerId="LiveId" clId="{07DBF7C9-A9CA-43D6-B65A-B2AA1C8B2C72}" dt="2026-04-28T00:05:26.836" v="64"/>
          <ac:spMkLst>
            <pc:docMk/>
            <pc:sldMk cId="0" sldId="259"/>
            <ac:spMk id="11" creationId="{00000000-0000-0000-0000-000000000000}"/>
          </ac:spMkLst>
        </pc:spChg>
        <pc:spChg chg="mod">
          <ac:chgData name="Jesse Beneventi" userId="bcb2cb89012a92c7" providerId="LiveId" clId="{07DBF7C9-A9CA-43D6-B65A-B2AA1C8B2C72}" dt="2026-04-28T00:05:47.525" v="73" actId="1076"/>
          <ac:spMkLst>
            <pc:docMk/>
            <pc:sldMk cId="0" sldId="259"/>
            <ac:spMk id="12" creationId="{00000000-0000-0000-0000-000000000000}"/>
          </ac:spMkLst>
        </pc:spChg>
        <pc:spChg chg="mod">
          <ac:chgData name="Jesse Beneventi" userId="bcb2cb89012a92c7" providerId="LiveId" clId="{07DBF7C9-A9CA-43D6-B65A-B2AA1C8B2C72}" dt="2026-04-28T00:05:29.271" v="65" actId="20577"/>
          <ac:spMkLst>
            <pc:docMk/>
            <pc:sldMk cId="0" sldId="259"/>
            <ac:spMk id="14" creationId="{00000000-0000-0000-0000-000000000000}"/>
          </ac:spMkLst>
        </pc:spChg>
        <pc:spChg chg="mod">
          <ac:chgData name="Jesse Beneventi" userId="bcb2cb89012a92c7" providerId="LiveId" clId="{07DBF7C9-A9CA-43D6-B65A-B2AA1C8B2C72}" dt="2026-04-28T00:05:45.024" v="72" actId="1076"/>
          <ac:spMkLst>
            <pc:docMk/>
            <pc:sldMk cId="0" sldId="259"/>
            <ac:spMk id="15" creationId="{00000000-0000-0000-0000-000000000000}"/>
          </ac:spMkLst>
        </pc:spChg>
        <pc:spChg chg="mod">
          <ac:chgData name="Jesse Beneventi" userId="bcb2cb89012a92c7" providerId="LiveId" clId="{07DBF7C9-A9CA-43D6-B65A-B2AA1C8B2C72}" dt="2026-04-28T00:06:26.116" v="102" actId="20577"/>
          <ac:spMkLst>
            <pc:docMk/>
            <pc:sldMk cId="0" sldId="259"/>
            <ac:spMk id="20" creationId="{00000000-0000-0000-0000-000000000000}"/>
          </ac:spMkLst>
        </pc:spChg>
        <pc:cxnChg chg="add del mod">
          <ac:chgData name="Jesse Beneventi" userId="bcb2cb89012a92c7" providerId="LiveId" clId="{07DBF7C9-A9CA-43D6-B65A-B2AA1C8B2C72}" dt="2026-04-28T00:04:55.981" v="56" actId="478"/>
          <ac:cxnSpMkLst>
            <pc:docMk/>
            <pc:sldMk cId="0" sldId="259"/>
            <ac:cxnSpMk id="22" creationId="{6DEE2E83-387D-9608-118C-FE14990C38EB}"/>
          </ac:cxnSpMkLst>
        </pc:cxnChg>
        <pc:cxnChg chg="add mod">
          <ac:chgData name="Jesse Beneventi" userId="bcb2cb89012a92c7" providerId="LiveId" clId="{07DBF7C9-A9CA-43D6-B65A-B2AA1C8B2C72}" dt="2026-04-28T00:04:51.712" v="53" actId="571"/>
          <ac:cxnSpMkLst>
            <pc:docMk/>
            <pc:sldMk cId="0" sldId="259"/>
            <ac:cxnSpMk id="24" creationId="{A06B96F5-6014-16FE-02CE-6D879E68F9CB}"/>
          </ac:cxnSpMkLst>
        </pc:cxnChg>
        <pc:cxnChg chg="add del mod">
          <ac:chgData name="Jesse Beneventi" userId="bcb2cb89012a92c7" providerId="LiveId" clId="{07DBF7C9-A9CA-43D6-B65A-B2AA1C8B2C72}" dt="2026-04-28T00:05:09.510" v="58" actId="478"/>
          <ac:cxnSpMkLst>
            <pc:docMk/>
            <pc:sldMk cId="0" sldId="259"/>
            <ac:cxnSpMk id="27" creationId="{D459954E-2A1C-D3A3-EE24-AC63CE009432}"/>
          </ac:cxnSpMkLst>
        </pc:cxnChg>
      </pc:sldChg>
      <pc:sldChg chg="modSp mod">
        <pc:chgData name="Jesse Beneventi" userId="bcb2cb89012a92c7" providerId="LiveId" clId="{07DBF7C9-A9CA-43D6-B65A-B2AA1C8B2C72}" dt="2026-04-28T00:06:38.685" v="129" actId="20577"/>
        <pc:sldMkLst>
          <pc:docMk/>
          <pc:sldMk cId="0" sldId="261"/>
        </pc:sldMkLst>
        <pc:spChg chg="mod">
          <ac:chgData name="Jesse Beneventi" userId="bcb2cb89012a92c7" providerId="LiveId" clId="{07DBF7C9-A9CA-43D6-B65A-B2AA1C8B2C72}" dt="2026-04-28T00:06:38.685" v="129" actId="20577"/>
          <ac:spMkLst>
            <pc:docMk/>
            <pc:sldMk cId="0" sldId="26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623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0" dirty="0">
                <a:solidFill>
                  <a:srgbClr val="FFFFFF"/>
                </a:solidFill>
              </a:rPr>
              <a:t>Nereus-LC is now a hybrid runtime: YOLO detects the dog, </a:t>
            </a:r>
            <a:r>
              <a:rPr lang="en-US" sz="1200" b="0" dirty="0" err="1">
                <a:solidFill>
                  <a:srgbClr val="FFFFFF"/>
                </a:solidFill>
              </a:rPr>
              <a:t>MobileNet</a:t>
            </a:r>
            <a:r>
              <a:rPr lang="en-US" sz="1200" b="0" dirty="0">
                <a:solidFill>
                  <a:srgbClr val="FFFFFF"/>
                </a:solidFill>
              </a:rPr>
              <a:t> gates give posture events, Contrastive Language–Image Pretraining (CLIP) confirms pee/poop labels. EMA helps to stabilize events (no instantaneous “IT’S POOPING!”, and the system saves snapshots, and post-event crops – for comparing before and after images, and annotated video, - for the customer</a:t>
            </a:r>
            <a:endParaRPr lang="en-US" sz="1200" b="0"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Hard negatives: </a:t>
            </a:r>
            <a:r>
              <a:rPr lang="en-US" dirty="0"/>
              <a:t>negative examples that are difficult to distinguish from real pee/poop events.</a:t>
            </a:r>
          </a:p>
          <a:p>
            <a:r>
              <a:rPr lang="en-US" b="1" dirty="0"/>
              <a:t>Calibrated thresholds: </a:t>
            </a:r>
            <a:r>
              <a:rPr lang="en-US" dirty="0"/>
              <a:t>you should not just pick a random cutoff like: if </a:t>
            </a:r>
            <a:r>
              <a:rPr lang="en-US" dirty="0" err="1"/>
              <a:t>pee_score</a:t>
            </a:r>
            <a:r>
              <a:rPr lang="en-US" dirty="0"/>
              <a:t> &gt; 0.12 → pee event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mob=0.17</a:t>
            </a:r>
            <a:br>
              <a:rPr lang="en-US" dirty="0"/>
            </a:br>
            <a:r>
              <a:rPr lang="en-US" dirty="0"/>
              <a:t>The raw </a:t>
            </a:r>
            <a:r>
              <a:rPr lang="en-US" b="0" dirty="0"/>
              <a:t>MobileNetV2 poop-posture score for the current frame/crop. Here, it thinks there is only a </a:t>
            </a:r>
            <a:r>
              <a:rPr lang="en-US" sz="1200" b="0" kern="1200" dirty="0">
                <a:solidFill>
                  <a:schemeClr val="tx1"/>
                </a:solidFill>
                <a:latin typeface="+mn-lt"/>
                <a:ea typeface="+mn-ea"/>
                <a:cs typeface="+mn-cs"/>
              </a:rPr>
              <a:t>0.17</a:t>
            </a:r>
            <a:r>
              <a:rPr lang="en-US" b="0" dirty="0"/>
              <a:t> chance of poop/squat posture.</a:t>
            </a:r>
          </a:p>
          <a:p>
            <a:endParaRPr lang="en-US" dirty="0"/>
          </a:p>
          <a:p>
            <a:r>
              <a:rPr lang="en-US" b="1" dirty="0"/>
              <a:t>ema=0.11</a:t>
            </a:r>
            <a:br>
              <a:rPr lang="en-US" dirty="0"/>
            </a:br>
            <a:r>
              <a:rPr lang="en-US" dirty="0"/>
              <a:t>The smoothed version of </a:t>
            </a:r>
            <a:r>
              <a:rPr lang="en-US" sz="1200" kern="1200" dirty="0">
                <a:solidFill>
                  <a:schemeClr val="tx1"/>
                </a:solidFill>
                <a:latin typeface="+mn-lt"/>
                <a:ea typeface="+mn-ea"/>
                <a:cs typeface="+mn-cs"/>
              </a:rPr>
              <a:t>mob</a:t>
            </a:r>
            <a:r>
              <a:rPr lang="en-US" dirty="0"/>
              <a:t> over </a:t>
            </a:r>
            <a:r>
              <a:rPr lang="en-US" b="0" dirty="0"/>
              <a:t>time using Exponential Moving Average. It changes </a:t>
            </a:r>
            <a:r>
              <a:rPr lang="en-US" dirty="0"/>
              <a:t>more slowly so the system does not flicker between event / no-event every frame.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kern="1200" dirty="0" err="1">
                <a:solidFill>
                  <a:schemeClr val="tx1"/>
                </a:solidFill>
                <a:latin typeface="+mn-lt"/>
                <a:ea typeface="+mn-ea"/>
                <a:cs typeface="+mn-cs"/>
              </a:rPr>
              <a:t>AdamW</a:t>
            </a:r>
            <a:r>
              <a:rPr lang="en-US" sz="1200" kern="1200" dirty="0">
                <a:solidFill>
                  <a:schemeClr val="tx1"/>
                </a:solidFill>
                <a:latin typeface="+mn-lt"/>
                <a:ea typeface="+mn-ea"/>
                <a:cs typeface="+mn-cs"/>
              </a:rPr>
              <a:t>:  </a:t>
            </a:r>
            <a:r>
              <a:rPr lang="en-US" dirty="0"/>
              <a:t>The optimizer used to train the model. It updates the model weights while also using weight decay to reduce overfitting.</a:t>
            </a:r>
          </a:p>
          <a:p>
            <a:pPr rtl="0"/>
            <a:endParaRPr lang="en-US" dirty="0"/>
          </a:p>
          <a:p>
            <a:pPr rtl="0"/>
            <a:r>
              <a:rPr lang="en-US" sz="1200" kern="1200" dirty="0">
                <a:solidFill>
                  <a:schemeClr val="tx1"/>
                </a:solidFill>
                <a:latin typeface="+mn-lt"/>
                <a:ea typeface="+mn-ea"/>
                <a:cs typeface="+mn-cs"/>
              </a:rPr>
              <a:t>cosine annealing: </a:t>
            </a:r>
            <a:r>
              <a:rPr lang="en-US" dirty="0"/>
              <a:t>The learning rate schedule. The learning rate starts higher, then gradually curves downward during training so the model makes smaller updates near the end.</a:t>
            </a:r>
          </a:p>
          <a:p>
            <a:pPr rtl="0"/>
            <a:endParaRPr lang="en-US" dirty="0"/>
          </a:p>
          <a:p>
            <a:pPr rtl="0"/>
            <a:r>
              <a:rPr lang="en-US" sz="1200" kern="1200" dirty="0">
                <a:solidFill>
                  <a:schemeClr val="tx1"/>
                </a:solidFill>
                <a:latin typeface="+mn-lt"/>
                <a:ea typeface="+mn-ea"/>
                <a:cs typeface="+mn-cs"/>
              </a:rPr>
              <a:t>label smoothing ε = 0.05: </a:t>
            </a:r>
            <a:r>
              <a:rPr lang="en-US" dirty="0"/>
              <a:t>Instead of training the model to be 100% confident, it softens the labels slightly. So “poop” is not treated as exactly </a:t>
            </a:r>
            <a:r>
              <a:rPr lang="en-US" sz="1200" kern="1200" dirty="0">
                <a:solidFill>
                  <a:schemeClr val="tx1"/>
                </a:solidFill>
                <a:latin typeface="+mn-lt"/>
                <a:ea typeface="+mn-ea"/>
                <a:cs typeface="+mn-cs"/>
              </a:rPr>
              <a:t>1.0</a:t>
            </a:r>
            <a:r>
              <a:rPr lang="en-US" dirty="0"/>
              <a:t>; it might be treated more like </a:t>
            </a:r>
            <a:r>
              <a:rPr lang="en-US" sz="1200" kern="1200" dirty="0">
                <a:solidFill>
                  <a:schemeClr val="tx1"/>
                </a:solidFill>
                <a:latin typeface="+mn-lt"/>
                <a:ea typeface="+mn-ea"/>
                <a:cs typeface="+mn-cs"/>
              </a:rPr>
              <a:t>0.95</a:t>
            </a:r>
            <a:r>
              <a:rPr lang="en-US" dirty="0"/>
              <a:t>. This helps prevent overconfidence.</a:t>
            </a:r>
          </a:p>
          <a:p>
            <a:pPr rtl="0"/>
            <a:endParaRPr lang="en-US" dirty="0"/>
          </a:p>
          <a:p>
            <a:pPr rtl="0"/>
            <a:r>
              <a:rPr lang="en-US" sz="1200" kern="1200" dirty="0">
                <a:solidFill>
                  <a:schemeClr val="tx1"/>
                </a:solidFill>
                <a:latin typeface="+mn-lt"/>
                <a:ea typeface="+mn-ea"/>
                <a:cs typeface="+mn-cs"/>
              </a:rPr>
              <a:t>F1 = 0.994: Balance between precision and recall: </a:t>
            </a:r>
            <a:r>
              <a:rPr lang="en-US" dirty="0"/>
              <a:t>The model had a very strong balance between precision and recall. In plain English: it caught almost all poop-posture cases while making very few false alarms.</a:t>
            </a:r>
          </a:p>
          <a:p>
            <a:endParaRPr lang="en-US" dirty="0"/>
          </a:p>
          <a:p>
            <a:pPr rtl="0"/>
            <a:r>
              <a:rPr lang="en-US" sz="1200" kern="1200" dirty="0">
                <a:solidFill>
                  <a:schemeClr val="tx1"/>
                </a:solidFill>
                <a:latin typeface="+mn-lt"/>
                <a:ea typeface="+mn-ea"/>
                <a:cs typeface="+mn-cs"/>
              </a:rPr>
              <a:t>τ* = 0.53:  </a:t>
            </a:r>
            <a:r>
              <a:rPr lang="en-US" dirty="0"/>
              <a:t>This is the decision threshold. The model outputs a probability, and if the poop probability is at least </a:t>
            </a:r>
            <a:r>
              <a:rPr lang="en-US" sz="1200" kern="1200" dirty="0">
                <a:solidFill>
                  <a:schemeClr val="tx1"/>
                </a:solidFill>
                <a:latin typeface="+mn-lt"/>
                <a:ea typeface="+mn-ea"/>
                <a:cs typeface="+mn-cs"/>
              </a:rPr>
              <a:t>0.53</a:t>
            </a:r>
            <a:r>
              <a:rPr lang="en-US" dirty="0"/>
              <a:t>, you classify it as poop/squat posture.</a:t>
            </a:r>
          </a:p>
          <a:p>
            <a:endParaRPr lang="en-US" dirty="0"/>
          </a:p>
          <a:p>
            <a:r>
              <a:rPr lang="en-US" dirty="0"/>
              <a:t>1000 / 15 ≈ 66 frames per second – fast enough for live video on a 2080. Won’t be quite so good on a HAT+2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overfitting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is about reducing flicker in the event decision. The raw classifier or CLIP score can bounce up and down frame by frame, so I smooth it with EMA. Then I use separate ON and OFF thresholds: the event starts only after the smoothed score crosses the ON threshold, and it stays active until the score drops below the lower OFF threshold. This prevents repeated alarms and helps the system save one useful post-event crop instead of many noisy ones.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94944" y="1024128"/>
            <a:ext cx="3840480" cy="438912"/>
          </a:xfrm>
          <a:prstGeom prst="rect">
            <a:avLst/>
          </a:prstGeom>
          <a:noFill/>
          <a:ln/>
        </p:spPr>
        <p:txBody>
          <a:bodyPr wrap="square" lIns="254" tIns="254" rIns="254" bIns="254" rtlCol="0" anchor="t">
            <a:normAutofit/>
          </a:bodyPr>
          <a:lstStyle/>
          <a:p>
            <a:pPr marL="0" indent="0">
              <a:buNone/>
            </a:pPr>
            <a:r>
              <a:rPr lang="en-US" sz="2500" b="1" dirty="0">
                <a:solidFill>
                  <a:srgbClr val="0FB7B5"/>
                </a:solidFill>
              </a:rPr>
              <a:t>NEREUS-LC (Lawn Care)</a:t>
            </a:r>
            <a:endParaRPr lang="en-US" sz="2500" dirty="0"/>
          </a:p>
        </p:txBody>
      </p:sp>
      <p:sp>
        <p:nvSpPr>
          <p:cNvPr id="3" name="Text 1"/>
          <p:cNvSpPr/>
          <p:nvPr/>
        </p:nvSpPr>
        <p:spPr>
          <a:xfrm>
            <a:off x="676656" y="1572768"/>
            <a:ext cx="6400800" cy="1234440"/>
          </a:xfrm>
          <a:prstGeom prst="rect">
            <a:avLst/>
          </a:prstGeom>
          <a:noFill/>
          <a:ln/>
        </p:spPr>
        <p:txBody>
          <a:bodyPr wrap="square" lIns="254" tIns="254" rIns="254" bIns="254" rtlCol="0" anchor="t">
            <a:normAutofit fontScale="92500" lnSpcReduction="20000"/>
          </a:bodyPr>
          <a:lstStyle/>
          <a:p>
            <a:pPr marL="0" indent="0">
              <a:buNone/>
            </a:pPr>
            <a:r>
              <a:rPr lang="en-US" sz="3200" b="1" dirty="0">
                <a:solidFill>
                  <a:srgbClr val="FFFFFF"/>
                </a:solidFill>
              </a:rPr>
              <a:t>Event-Triggered Animal Waste Detection, Deterrence, and Targeted Remediation</a:t>
            </a:r>
            <a:endParaRPr lang="en-US" sz="3200" dirty="0"/>
          </a:p>
        </p:txBody>
      </p:sp>
      <p:sp>
        <p:nvSpPr>
          <p:cNvPr id="4" name="Text 2"/>
          <p:cNvSpPr/>
          <p:nvPr/>
        </p:nvSpPr>
        <p:spPr>
          <a:xfrm>
            <a:off x="713232" y="3072384"/>
            <a:ext cx="4846320" cy="274320"/>
          </a:xfrm>
          <a:prstGeom prst="rect">
            <a:avLst/>
          </a:prstGeom>
          <a:noFill/>
          <a:ln/>
        </p:spPr>
        <p:txBody>
          <a:bodyPr wrap="square" lIns="254" tIns="254" rIns="254" bIns="254" rtlCol="0" anchor="t">
            <a:normAutofit/>
          </a:bodyPr>
          <a:lstStyle/>
          <a:p>
            <a:pPr marL="0" indent="0">
              <a:buNone/>
            </a:pPr>
            <a:r>
              <a:rPr lang="en-US" sz="1200" dirty="0">
                <a:solidFill>
                  <a:srgbClr val="B8C0C9"/>
                </a:solidFill>
              </a:rPr>
              <a:t>CPT_S 440/540 | Jesse Beneventi</a:t>
            </a:r>
            <a:endParaRPr lang="en-US" sz="1200" dirty="0"/>
          </a:p>
        </p:txBody>
      </p:sp>
      <p:pic>
        <p:nvPicPr>
          <p:cNvPr id="5" name="Image 0" descr="/mnt/data/ai_media/ppt/media/image2.png"/>
          <p:cNvPicPr>
            <a:picLocks noChangeAspect="1"/>
          </p:cNvPicPr>
          <p:nvPr/>
        </p:nvPicPr>
        <p:blipFill>
          <a:blip r:embed="rId3"/>
          <a:srcRect t="11111" b="11111"/>
          <a:stretch/>
        </p:blipFill>
        <p:spPr>
          <a:xfrm>
            <a:off x="7772400" y="960120"/>
            <a:ext cx="2468880" cy="2880360"/>
          </a:xfrm>
          <a:prstGeom prst="rect">
            <a:avLst/>
          </a:prstGeom>
        </p:spPr>
      </p:pic>
      <p:pic>
        <p:nvPicPr>
          <p:cNvPr id="6" name="Image 1" descr="/mnt/data/ai_media/ppt/media/image7.png"/>
          <p:cNvPicPr>
            <a:picLocks noChangeAspect="1"/>
          </p:cNvPicPr>
          <p:nvPr/>
        </p:nvPicPr>
        <p:blipFill>
          <a:blip r:embed="rId4"/>
          <a:srcRect t="37500" b="37500"/>
          <a:stretch/>
        </p:blipFill>
        <p:spPr>
          <a:xfrm>
            <a:off x="0" y="4572000"/>
            <a:ext cx="12191695" cy="2286000"/>
          </a:xfrm>
          <a:prstGeom prst="rect">
            <a:avLst/>
          </a:prstGeom>
        </p:spPr>
      </p:pic>
      <p:sp>
        <p:nvSpPr>
          <p:cNvPr id="7" name="Text 3"/>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Problem &amp; Motivation</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Why a closed-loop system matters</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868680" y="1691640"/>
            <a:ext cx="3383280" cy="749808"/>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600" b="1" dirty="0">
                <a:solidFill>
                  <a:srgbClr val="FFFFFF"/>
                </a:solidFill>
              </a:rPr>
              <a:t>66-71% of U.S. households own pets</a:t>
            </a:r>
            <a:endParaRPr lang="en-US" sz="1600" dirty="0"/>
          </a:p>
        </p:txBody>
      </p:sp>
      <p:sp>
        <p:nvSpPr>
          <p:cNvPr id="6" name="Text 4"/>
          <p:cNvSpPr/>
          <p:nvPr/>
        </p:nvSpPr>
        <p:spPr>
          <a:xfrm>
            <a:off x="868680" y="2788920"/>
            <a:ext cx="3383280" cy="749808"/>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Static irrigation wastes water and is not designed for cleanup</a:t>
            </a:r>
            <a:endParaRPr lang="en-US" sz="1500" dirty="0"/>
          </a:p>
        </p:txBody>
      </p:sp>
      <p:sp>
        <p:nvSpPr>
          <p:cNvPr id="7" name="Text 5"/>
          <p:cNvSpPr/>
          <p:nvPr/>
        </p:nvSpPr>
        <p:spPr>
          <a:xfrm>
            <a:off x="868680" y="3886200"/>
            <a:ext cx="3383280" cy="749808"/>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Pet waste creates turf burn, odor, and health risks</a:t>
            </a:r>
            <a:endParaRPr lang="en-US" sz="1500" dirty="0"/>
          </a:p>
        </p:txBody>
      </p:sp>
      <p:pic>
        <p:nvPicPr>
          <p:cNvPr id="8" name="Image 0" descr="/mnt/data/ai_media/ppt/media/image7.png"/>
          <p:cNvPicPr>
            <a:picLocks noChangeAspect="1"/>
          </p:cNvPicPr>
          <p:nvPr/>
        </p:nvPicPr>
        <p:blipFill>
          <a:blip r:embed="rId3"/>
          <a:srcRect l="568" r="568"/>
          <a:stretch/>
        </p:blipFill>
        <p:spPr>
          <a:xfrm>
            <a:off x="5532120" y="1463040"/>
            <a:ext cx="5303520" cy="4023360"/>
          </a:xfrm>
          <a:prstGeom prst="rect">
            <a:avLst/>
          </a:prstGeom>
        </p:spPr>
      </p:pic>
      <p:sp>
        <p:nvSpPr>
          <p:cNvPr id="9" name="Text 6"/>
          <p:cNvSpPr/>
          <p:nvPr/>
        </p:nvSpPr>
        <p:spPr>
          <a:xfrm>
            <a:off x="5577840" y="5641848"/>
            <a:ext cx="5166360" cy="384048"/>
          </a:xfrm>
          <a:prstGeom prst="rect">
            <a:avLst/>
          </a:prstGeom>
          <a:noFill/>
          <a:ln/>
        </p:spPr>
        <p:txBody>
          <a:bodyPr wrap="square" lIns="254" tIns="254" rIns="254" bIns="254" rtlCol="0" anchor="t">
            <a:normAutofit fontScale="85000" lnSpcReduction="20000"/>
          </a:bodyPr>
          <a:lstStyle/>
          <a:p>
            <a:pPr marL="0" indent="0">
              <a:buNone/>
            </a:pPr>
            <a:r>
              <a:rPr lang="en-US" sz="1600" b="1" dirty="0">
                <a:solidFill>
                  <a:srgbClr val="FFFFFF"/>
                </a:solidFill>
              </a:rPr>
              <a:t>Goal: Create a sprinkler that reacts only when an animal event occurs, then localize and remediate the affected grass.</a:t>
            </a:r>
            <a:endParaRPr lang="en-US" sz="1600" dirty="0"/>
          </a:p>
        </p:txBody>
      </p:sp>
      <p:sp>
        <p:nvSpPr>
          <p:cNvPr id="10" name="Text 7"/>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Fixed Station Setup</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Post-mounted camera + aimable sprinkler station</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6" name="Text 3"/>
          <p:cNvSpPr/>
          <p:nvPr/>
        </p:nvSpPr>
        <p:spPr>
          <a:xfrm>
            <a:off x="7635240" y="1600200"/>
            <a:ext cx="3611880" cy="2651760"/>
          </a:xfrm>
          <a:prstGeom prst="rect">
            <a:avLst/>
          </a:prstGeom>
          <a:noFill/>
          <a:ln/>
        </p:spPr>
        <p:txBody>
          <a:bodyPr wrap="square" lIns="254" tIns="254" rIns="254" bIns="254" rtlCol="0" anchor="t">
            <a:normAutofit/>
          </a:bodyPr>
          <a:lstStyle/>
          <a:p>
            <a:pPr marL="0" indent="0">
              <a:spcAft>
                <a:spcPts val="600"/>
              </a:spcAft>
              <a:buNone/>
            </a:pPr>
            <a:r>
              <a:rPr lang="en-US" sz="1700" dirty="0">
                <a:solidFill>
                  <a:srgbClr val="FFFFFF"/>
                </a:solidFill>
              </a:rPr>
              <a:t>• RGB/HDR camera watches for animals, posture, and waste events</a:t>
            </a:r>
            <a:endParaRPr lang="en-US" sz="1700" dirty="0"/>
          </a:p>
          <a:p>
            <a:pPr marL="0" indent="0">
              <a:spcAft>
                <a:spcPts val="600"/>
              </a:spcAft>
              <a:buNone/>
            </a:pPr>
            <a:r>
              <a:rPr lang="en-US" sz="1700" dirty="0">
                <a:solidFill>
                  <a:srgbClr val="FFFFFF"/>
                </a:solidFill>
              </a:rPr>
              <a:t>• Station has water input w/ optional treatment fluid </a:t>
            </a:r>
          </a:p>
          <a:p>
            <a:pPr marL="0" indent="0">
              <a:spcAft>
                <a:spcPts val="600"/>
              </a:spcAft>
              <a:buNone/>
            </a:pPr>
            <a:r>
              <a:rPr lang="en-US" sz="1700" dirty="0">
                <a:solidFill>
                  <a:srgbClr val="FFFFFF"/>
                </a:solidFill>
              </a:rPr>
              <a:t>• The fixed station localizes the event and targets only the affected spot</a:t>
            </a:r>
            <a:endParaRPr lang="en-US" sz="1700" dirty="0"/>
          </a:p>
        </p:txBody>
      </p:sp>
      <p:sp>
        <p:nvSpPr>
          <p:cNvPr id="7" name="Text 4"/>
          <p:cNvSpPr/>
          <p:nvPr/>
        </p:nvSpPr>
        <p:spPr>
          <a:xfrm>
            <a:off x="8796527" y="6501384"/>
            <a:ext cx="1586386" cy="256032"/>
          </a:xfrm>
          <a:prstGeom prst="rect">
            <a:avLst/>
          </a:prstGeom>
          <a:noFill/>
          <a:ln/>
        </p:spPr>
        <p:txBody>
          <a:bodyPr wrap="square" lIns="0" tIns="0" rIns="0" bIns="0" rtlCol="0" anchor="ctr"/>
          <a:lstStyle/>
          <a:p>
            <a:pPr marL="0" indent="0" algn="ctr">
              <a:buNone/>
            </a:pPr>
            <a:r>
              <a:rPr lang="en-US" sz="850" i="1" dirty="0">
                <a:solidFill>
                  <a:srgbClr val="B8C0C9"/>
                </a:solidFill>
              </a:rPr>
              <a:t>CAD Drawing of Sprinkler Motor</a:t>
            </a:r>
            <a:endParaRPr lang="en-US" sz="850" dirty="0"/>
          </a:p>
        </p:txBody>
      </p:sp>
      <p:sp>
        <p:nvSpPr>
          <p:cNvPr id="8"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3</a:t>
            </a:r>
            <a:endParaRPr lang="en-US" sz="850" dirty="0"/>
          </a:p>
        </p:txBody>
      </p:sp>
      <p:pic>
        <p:nvPicPr>
          <p:cNvPr id="26" name="Picture 25">
            <a:extLst>
              <a:ext uri="{FF2B5EF4-FFF2-40B4-BE49-F238E27FC236}">
                <a16:creationId xmlns:a16="http://schemas.microsoft.com/office/drawing/2014/main" id="{EB3AFD7B-E246-52FE-ECA0-E456982AC958}"/>
              </a:ext>
            </a:extLst>
          </p:cNvPr>
          <p:cNvPicPr>
            <a:picLocks noChangeAspect="1"/>
          </p:cNvPicPr>
          <p:nvPr/>
        </p:nvPicPr>
        <p:blipFill>
          <a:blip r:embed="rId3"/>
          <a:stretch>
            <a:fillRect/>
          </a:stretch>
        </p:blipFill>
        <p:spPr>
          <a:xfrm>
            <a:off x="694944" y="1364742"/>
            <a:ext cx="6763512" cy="5072634"/>
          </a:xfrm>
          <a:prstGeom prst="rect">
            <a:avLst/>
          </a:prstGeom>
        </p:spPr>
      </p:pic>
      <p:pic>
        <p:nvPicPr>
          <p:cNvPr id="10" name="Picture 9">
            <a:extLst>
              <a:ext uri="{FF2B5EF4-FFF2-40B4-BE49-F238E27FC236}">
                <a16:creationId xmlns:a16="http://schemas.microsoft.com/office/drawing/2014/main" id="{F6107D4F-819E-EA68-6573-7D8693C672FA}"/>
              </a:ext>
            </a:extLst>
          </p:cNvPr>
          <p:cNvPicPr>
            <a:picLocks noChangeAspect="1"/>
          </p:cNvPicPr>
          <p:nvPr/>
        </p:nvPicPr>
        <p:blipFill>
          <a:blip r:embed="rId4"/>
          <a:stretch>
            <a:fillRect/>
          </a:stretch>
        </p:blipFill>
        <p:spPr>
          <a:xfrm>
            <a:off x="8796528" y="3901059"/>
            <a:ext cx="1586385" cy="2523893"/>
          </a:xfrm>
          <a:prstGeom prst="rect">
            <a:avLst/>
          </a:prstGeom>
        </p:spPr>
      </p:pic>
      <p:sp>
        <p:nvSpPr>
          <p:cNvPr id="11" name="Text 4">
            <a:extLst>
              <a:ext uri="{FF2B5EF4-FFF2-40B4-BE49-F238E27FC236}">
                <a16:creationId xmlns:a16="http://schemas.microsoft.com/office/drawing/2014/main" id="{9D7FFFF3-3F38-D939-8BE8-4EFC106A8C5B}"/>
              </a:ext>
            </a:extLst>
          </p:cNvPr>
          <p:cNvSpPr/>
          <p:nvPr/>
        </p:nvSpPr>
        <p:spPr>
          <a:xfrm>
            <a:off x="810768" y="6501384"/>
            <a:ext cx="6537960" cy="256032"/>
          </a:xfrm>
          <a:prstGeom prst="rect">
            <a:avLst/>
          </a:prstGeom>
          <a:noFill/>
          <a:ln/>
        </p:spPr>
        <p:txBody>
          <a:bodyPr wrap="square" lIns="0" tIns="0" rIns="0" bIns="0" rtlCol="0" anchor="ctr"/>
          <a:lstStyle/>
          <a:p>
            <a:pPr marL="0" indent="0" algn="ctr">
              <a:buNone/>
            </a:pPr>
            <a:r>
              <a:rPr lang="en-US" sz="850" i="1" dirty="0">
                <a:solidFill>
                  <a:srgbClr val="B8C0C9"/>
                </a:solidFill>
              </a:rPr>
              <a:t>Fixed-Station Design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AI Pipeline</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From detection to stable event decision</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777240" y="2194560"/>
            <a:ext cx="1920240" cy="713232"/>
          </a:xfrm>
          <a:prstGeom prst="rect">
            <a:avLst/>
          </a:prstGeom>
          <a:solidFill>
            <a:srgbClr val="0FB7B5"/>
          </a:solidFill>
          <a:ln>
            <a:solidFill>
              <a:srgbClr val="0FB7B5">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Detect dog</a:t>
            </a:r>
            <a:endParaRPr lang="en-US" sz="1400" dirty="0"/>
          </a:p>
        </p:txBody>
      </p:sp>
      <p:sp>
        <p:nvSpPr>
          <p:cNvPr id="6" name="Text 4"/>
          <p:cNvSpPr/>
          <p:nvPr/>
        </p:nvSpPr>
        <p:spPr>
          <a:xfrm>
            <a:off x="82296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YOLO / camera feed</a:t>
            </a:r>
            <a:endParaRPr lang="en-US" sz="1050" dirty="0"/>
          </a:p>
        </p:txBody>
      </p:sp>
      <p:sp>
        <p:nvSpPr>
          <p:cNvPr id="7" name="Shape 5"/>
          <p:cNvSpPr/>
          <p:nvPr/>
        </p:nvSpPr>
        <p:spPr>
          <a:xfrm>
            <a:off x="2743200" y="2551176"/>
            <a:ext cx="320040" cy="0"/>
          </a:xfrm>
          <a:prstGeom prst="line">
            <a:avLst/>
          </a:prstGeom>
          <a:noFill/>
          <a:ln w="12700">
            <a:solidFill>
              <a:srgbClr val="B8C0C9"/>
            </a:solidFill>
            <a:prstDash val="solid"/>
            <a:tailEnd type="triangle"/>
          </a:ln>
        </p:spPr>
        <p:txBody>
          <a:bodyPr/>
          <a:lstStyle/>
          <a:p>
            <a:endParaRPr lang="en-US"/>
          </a:p>
        </p:txBody>
      </p:sp>
      <p:sp>
        <p:nvSpPr>
          <p:cNvPr id="8" name="Text 6"/>
          <p:cNvSpPr/>
          <p:nvPr/>
        </p:nvSpPr>
        <p:spPr>
          <a:xfrm>
            <a:off x="3017520" y="2194560"/>
            <a:ext cx="1920240" cy="713232"/>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Crop region</a:t>
            </a:r>
            <a:endParaRPr lang="en-US" sz="1400" dirty="0"/>
          </a:p>
        </p:txBody>
      </p:sp>
      <p:sp>
        <p:nvSpPr>
          <p:cNvPr id="9" name="Text 7"/>
          <p:cNvSpPr/>
          <p:nvPr/>
        </p:nvSpPr>
        <p:spPr>
          <a:xfrm>
            <a:off x="306324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dog box + grass patch</a:t>
            </a:r>
            <a:endParaRPr lang="en-US" sz="1050" dirty="0"/>
          </a:p>
        </p:txBody>
      </p:sp>
      <p:sp>
        <p:nvSpPr>
          <p:cNvPr id="10" name="Shape 8"/>
          <p:cNvSpPr/>
          <p:nvPr/>
        </p:nvSpPr>
        <p:spPr>
          <a:xfrm>
            <a:off x="4983480" y="2551176"/>
            <a:ext cx="320040" cy="0"/>
          </a:xfrm>
          <a:prstGeom prst="line">
            <a:avLst/>
          </a:prstGeom>
          <a:noFill/>
          <a:ln w="12700">
            <a:solidFill>
              <a:srgbClr val="B8C0C9"/>
            </a:solidFill>
            <a:prstDash val="solid"/>
            <a:tailEnd type="triangle"/>
          </a:ln>
        </p:spPr>
        <p:txBody>
          <a:bodyPr/>
          <a:lstStyle/>
          <a:p>
            <a:endParaRPr lang="en-US"/>
          </a:p>
        </p:txBody>
      </p:sp>
      <p:sp>
        <p:nvSpPr>
          <p:cNvPr id="11" name="Text 9"/>
          <p:cNvSpPr/>
          <p:nvPr/>
        </p:nvSpPr>
        <p:spPr>
          <a:xfrm>
            <a:off x="5257800" y="2194560"/>
            <a:ext cx="1920240" cy="713232"/>
          </a:xfrm>
          <a:prstGeom prst="rect">
            <a:avLst/>
          </a:prstGeom>
          <a:solidFill>
            <a:srgbClr val="F16C24"/>
          </a:solidFill>
          <a:ln>
            <a:solidFill>
              <a:srgbClr val="F16C24">
                <a:alpha val="0"/>
              </a:srgbClr>
            </a:solidFill>
          </a:ln>
        </p:spPr>
        <p:txBody>
          <a:bodyPr wrap="square" lIns="1651" tIns="1651" rIns="1651" bIns="1651" rtlCol="0" anchor="ctr">
            <a:normAutofit/>
          </a:bodyPr>
          <a:lstStyle/>
          <a:p>
            <a:pPr algn="ctr"/>
            <a:r>
              <a:rPr lang="en-US" sz="1400" b="1" dirty="0">
                <a:solidFill>
                  <a:srgbClr val="FFFFFF"/>
                </a:solidFill>
              </a:rPr>
              <a:t>Stabilize</a:t>
            </a:r>
            <a:endParaRPr lang="en-US" sz="1400" dirty="0"/>
          </a:p>
        </p:txBody>
      </p:sp>
      <p:sp>
        <p:nvSpPr>
          <p:cNvPr id="12" name="Text 10"/>
          <p:cNvSpPr/>
          <p:nvPr/>
        </p:nvSpPr>
        <p:spPr>
          <a:xfrm>
            <a:off x="754380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CLIP prompt scores</a:t>
            </a:r>
            <a:endParaRPr lang="en-US" sz="1050" dirty="0"/>
          </a:p>
        </p:txBody>
      </p:sp>
      <p:sp>
        <p:nvSpPr>
          <p:cNvPr id="13" name="Shape 11"/>
          <p:cNvSpPr/>
          <p:nvPr/>
        </p:nvSpPr>
        <p:spPr>
          <a:xfrm>
            <a:off x="7223760" y="2551176"/>
            <a:ext cx="320040" cy="0"/>
          </a:xfrm>
          <a:prstGeom prst="line">
            <a:avLst/>
          </a:prstGeom>
          <a:noFill/>
          <a:ln w="12700">
            <a:solidFill>
              <a:srgbClr val="B8C0C9"/>
            </a:solidFill>
            <a:prstDash val="solid"/>
            <a:tailEnd type="triangle"/>
          </a:ln>
        </p:spPr>
        <p:txBody>
          <a:bodyPr/>
          <a:lstStyle/>
          <a:p>
            <a:endParaRPr lang="en-US"/>
          </a:p>
        </p:txBody>
      </p:sp>
      <p:sp>
        <p:nvSpPr>
          <p:cNvPr id="14" name="Text 12"/>
          <p:cNvSpPr/>
          <p:nvPr/>
        </p:nvSpPr>
        <p:spPr>
          <a:xfrm>
            <a:off x="7498080" y="2194560"/>
            <a:ext cx="1920240" cy="713232"/>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endParaRPr lang="en-US" sz="1400" b="1" dirty="0">
              <a:solidFill>
                <a:srgbClr val="FFFFFF"/>
              </a:solidFill>
            </a:endParaRPr>
          </a:p>
          <a:p>
            <a:pPr algn="ctr"/>
            <a:r>
              <a:rPr lang="en-US" sz="1400" b="1" dirty="0">
                <a:solidFill>
                  <a:srgbClr val="FFFFFF"/>
                </a:solidFill>
              </a:rPr>
              <a:t>Confirm event</a:t>
            </a:r>
            <a:endParaRPr lang="en-US" sz="1400" dirty="0"/>
          </a:p>
          <a:p>
            <a:pPr marL="0" indent="0" algn="ctr">
              <a:buNone/>
            </a:pPr>
            <a:endParaRPr lang="en-US" sz="1400" dirty="0"/>
          </a:p>
        </p:txBody>
      </p:sp>
      <p:sp>
        <p:nvSpPr>
          <p:cNvPr id="15" name="Text 13"/>
          <p:cNvSpPr/>
          <p:nvPr/>
        </p:nvSpPr>
        <p:spPr>
          <a:xfrm>
            <a:off x="530352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EMA + hysteresis</a:t>
            </a:r>
            <a:endParaRPr lang="en-US" sz="1050" dirty="0"/>
          </a:p>
        </p:txBody>
      </p:sp>
      <p:sp>
        <p:nvSpPr>
          <p:cNvPr id="16" name="Shape 14"/>
          <p:cNvSpPr/>
          <p:nvPr/>
        </p:nvSpPr>
        <p:spPr>
          <a:xfrm>
            <a:off x="9464040" y="2551176"/>
            <a:ext cx="320040" cy="0"/>
          </a:xfrm>
          <a:prstGeom prst="line">
            <a:avLst/>
          </a:prstGeom>
          <a:noFill/>
          <a:ln w="12700">
            <a:solidFill>
              <a:srgbClr val="B8C0C9"/>
            </a:solidFill>
            <a:prstDash val="solid"/>
            <a:tailEnd type="triangle"/>
          </a:ln>
        </p:spPr>
        <p:txBody>
          <a:bodyPr/>
          <a:lstStyle/>
          <a:p>
            <a:endParaRPr lang="en-US"/>
          </a:p>
        </p:txBody>
      </p:sp>
      <p:sp>
        <p:nvSpPr>
          <p:cNvPr id="17" name="Text 15"/>
          <p:cNvSpPr/>
          <p:nvPr/>
        </p:nvSpPr>
        <p:spPr>
          <a:xfrm>
            <a:off x="9738360" y="2194560"/>
            <a:ext cx="1920240" cy="713232"/>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Act</a:t>
            </a:r>
            <a:endParaRPr lang="en-US" sz="1400" dirty="0"/>
          </a:p>
        </p:txBody>
      </p:sp>
      <p:sp>
        <p:nvSpPr>
          <p:cNvPr id="18" name="Text 16"/>
          <p:cNvSpPr/>
          <p:nvPr/>
        </p:nvSpPr>
        <p:spPr>
          <a:xfrm>
            <a:off x="978408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snapshot + station cue</a:t>
            </a:r>
            <a:endParaRPr lang="en-US" sz="1050" dirty="0"/>
          </a:p>
        </p:txBody>
      </p:sp>
      <p:sp>
        <p:nvSpPr>
          <p:cNvPr id="20" name="Text 18"/>
          <p:cNvSpPr/>
          <p:nvPr/>
        </p:nvSpPr>
        <p:spPr>
          <a:xfrm>
            <a:off x="1005840" y="4794543"/>
            <a:ext cx="9875520" cy="519209"/>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1000" dirty="0" err="1">
                <a:solidFill>
                  <a:srgbClr val="D9E6F2"/>
                </a:solidFill>
                <a:latin typeface="Consolas" pitchFamily="34" charset="0"/>
              </a:rPr>
              <a:t>prompt_groups</a:t>
            </a:r>
            <a:r>
              <a:rPr lang="en-US" sz="1000" dirty="0">
                <a:solidFill>
                  <a:srgbClr val="D9E6F2"/>
                </a:solidFill>
                <a:latin typeface="Consolas" pitchFamily="34" charset="0"/>
              </a:rPr>
              <a:t> = { neutral: ["a dog"], </a:t>
            </a:r>
          </a:p>
          <a:p>
            <a:pPr marL="0" indent="0">
              <a:buNone/>
            </a:pPr>
            <a:r>
              <a:rPr lang="en-US" sz="1000" dirty="0">
                <a:solidFill>
                  <a:srgbClr val="D9E6F2"/>
                </a:solidFill>
                <a:latin typeface="Consolas" pitchFamily="34" charset="0"/>
              </a:rPr>
              <a:t>	     poop: [“a dog pooping"], </a:t>
            </a:r>
          </a:p>
          <a:p>
            <a:pPr marL="0" indent="0">
              <a:buNone/>
            </a:pPr>
            <a:r>
              <a:rPr lang="en-US" sz="1000" dirty="0">
                <a:solidFill>
                  <a:srgbClr val="D9E6F2"/>
                </a:solidFill>
                <a:latin typeface="Consolas" pitchFamily="34" charset="0"/>
              </a:rPr>
              <a:t>                  pee: [“a dog peeing"] }</a:t>
            </a:r>
          </a:p>
          <a:p>
            <a:pPr marL="0" indent="0">
              <a:buNone/>
            </a:pPr>
            <a:endParaRPr lang="en-US" sz="1000" dirty="0">
              <a:solidFill>
                <a:srgbClr val="D9E6F2"/>
              </a:solidFill>
              <a:latin typeface="Consolas" pitchFamily="34" charset="0"/>
            </a:endParaRPr>
          </a:p>
        </p:txBody>
      </p:sp>
      <p:sp>
        <p:nvSpPr>
          <p:cNvPr id="21" name="Text 19"/>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4</a:t>
            </a:r>
            <a:endParaRPr lang="en-US" sz="850" dirty="0"/>
          </a:p>
        </p:txBody>
      </p:sp>
      <p:sp>
        <p:nvSpPr>
          <p:cNvPr id="23" name="TextBox 22">
            <a:extLst>
              <a:ext uri="{FF2B5EF4-FFF2-40B4-BE49-F238E27FC236}">
                <a16:creationId xmlns:a16="http://schemas.microsoft.com/office/drawing/2014/main" id="{1514378E-99CA-8DAE-BA43-B296FA39BB8B}"/>
              </a:ext>
            </a:extLst>
          </p:cNvPr>
          <p:cNvSpPr txBox="1"/>
          <p:nvPr/>
        </p:nvSpPr>
        <p:spPr>
          <a:xfrm>
            <a:off x="929640" y="4462273"/>
            <a:ext cx="8808720" cy="369332"/>
          </a:xfrm>
          <a:prstGeom prst="rect">
            <a:avLst/>
          </a:prstGeom>
          <a:noFill/>
        </p:spPr>
        <p:txBody>
          <a:bodyPr wrap="square">
            <a:spAutoFit/>
          </a:bodyPr>
          <a:lstStyle/>
          <a:p>
            <a:pPr marL="0" indent="0">
              <a:buNone/>
            </a:pPr>
            <a:r>
              <a:rPr lang="en-US" sz="1800" dirty="0">
                <a:solidFill>
                  <a:srgbClr val="D9E6F2"/>
                </a:solidFill>
                <a:latin typeface="DaunPenh" panose="020F0502020204030204" pitchFamily="2" charset="0"/>
                <a:ea typeface="Consolas" pitchFamily="34" charset="-122"/>
                <a:cs typeface="DaunPenh" panose="020F0502020204030204" pitchFamily="2" charset="0"/>
              </a:rPr>
              <a:t>Contrastive Language–Image Pretraining (CLIP</a:t>
            </a:r>
            <a:r>
              <a:rPr lang="en-US" dirty="0">
                <a:solidFill>
                  <a:srgbClr val="D9E6F2"/>
                </a:solidFill>
                <a:latin typeface="DaunPenh" panose="020F0502020204030204" pitchFamily="2" charset="0"/>
                <a:ea typeface="Consolas" pitchFamily="34" charset="-122"/>
                <a:cs typeface="DaunPenh" panose="020F0502020204030204" pitchFamily="2" charset="0"/>
              </a:rPr>
              <a:t>)</a:t>
            </a:r>
            <a:r>
              <a:rPr lang="en-US" sz="1800" dirty="0">
                <a:solidFill>
                  <a:srgbClr val="D9E6F2"/>
                </a:solidFill>
                <a:latin typeface="DaunPenh" panose="020F0502020204030204" pitchFamily="2" charset="0"/>
                <a:ea typeface="Consolas" pitchFamily="34" charset="-122"/>
                <a:cs typeface="DaunPenh" panose="020F0502020204030204" pitchFamily="2" charset="0"/>
              </a:rPr>
              <a:t> prompt examples (from the most successful test to date):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Prompt Engineering Test (CLIP)</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Prompt wording strongly changes CLIP scores</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868680" y="2115820"/>
            <a:ext cx="4800600" cy="2600207"/>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950" dirty="0">
                <a:solidFill>
                  <a:srgbClr val="D9E6F2"/>
                </a:solidFill>
                <a:latin typeface="Consolas" pitchFamily="34" charset="0"/>
                <a:ea typeface="Consolas" pitchFamily="34" charset="-122"/>
                <a:cs typeface="Consolas" pitchFamily="34" charset="-120"/>
              </a:rPr>
              <a:t>Minimal prompts:</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neutral: "a dog"</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poop: “a dog pooping"</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pee: “a dog peeing"</a:t>
            </a:r>
            <a:endParaRPr lang="en-US" sz="950" dirty="0"/>
          </a:p>
          <a:p>
            <a:pPr marL="0" indent="0">
              <a:buNone/>
            </a:pP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Observed:</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pee score ≈ 0.536-0.653</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poop score ≈ 0.406-0.421</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neutral score ≈ 0.028-0.031</a:t>
            </a:r>
            <a:endParaRPr lang="en-US" sz="950" dirty="0"/>
          </a:p>
        </p:txBody>
      </p:sp>
      <p:sp>
        <p:nvSpPr>
          <p:cNvPr id="6" name="Text 4"/>
          <p:cNvSpPr/>
          <p:nvPr/>
        </p:nvSpPr>
        <p:spPr>
          <a:xfrm>
            <a:off x="6400800" y="2115820"/>
            <a:ext cx="4800600" cy="2595367"/>
          </a:xfrm>
          <a:prstGeom prst="rect">
            <a:avLst/>
          </a:prstGeom>
          <a:solidFill>
            <a:srgbClr val="0B0F13"/>
          </a:solidFill>
          <a:ln>
            <a:solidFill>
              <a:srgbClr val="2B3540"/>
            </a:solidFill>
          </a:ln>
        </p:spPr>
        <p:txBody>
          <a:bodyPr wrap="square" lIns="1524" tIns="1524" rIns="1524" bIns="1524" rtlCol="0" anchor="t">
            <a:normAutofit/>
          </a:bodyPr>
          <a:lstStyle/>
          <a:p>
            <a:r>
              <a:rPr lang="en-US" sz="950" dirty="0">
                <a:solidFill>
                  <a:srgbClr val="D9E6F2"/>
                </a:solidFill>
                <a:latin typeface="Consolas" pitchFamily="34" charset="0"/>
              </a:rPr>
              <a:t>Richer prompts:</a:t>
            </a:r>
          </a:p>
          <a:p>
            <a:r>
              <a:rPr lang="en-US" sz="950" dirty="0">
                <a:solidFill>
                  <a:srgbClr val="D9E6F2"/>
                </a:solidFill>
                <a:latin typeface="Consolas" pitchFamily="34" charset="0"/>
              </a:rPr>
              <a:t>neutral: ["a dog standing on grass", </a:t>
            </a:r>
          </a:p>
          <a:p>
            <a:r>
              <a:rPr lang="en-US" sz="950" dirty="0">
                <a:solidFill>
                  <a:srgbClr val="D9E6F2"/>
                </a:solidFill>
                <a:latin typeface="Consolas" pitchFamily="34" charset="0"/>
              </a:rPr>
              <a:t>          "a dog walking on grass", </a:t>
            </a:r>
          </a:p>
          <a:p>
            <a:r>
              <a:rPr lang="en-US" sz="950" dirty="0">
                <a:solidFill>
                  <a:srgbClr val="D9E6F2"/>
                </a:solidFill>
                <a:latin typeface="Consolas" pitchFamily="34" charset="0"/>
              </a:rPr>
              <a:t>          "a dog sniffing the ground",  </a:t>
            </a:r>
          </a:p>
          <a:p>
            <a:r>
              <a:rPr lang="en-US" sz="950" dirty="0">
                <a:solidFill>
                  <a:srgbClr val="D9E6F2"/>
                </a:solidFill>
                <a:latin typeface="Consolas" pitchFamily="34" charset="0"/>
              </a:rPr>
              <a:t>          "a dog sitting outside",]</a:t>
            </a:r>
          </a:p>
          <a:p>
            <a:r>
              <a:rPr lang="en-US" sz="950" dirty="0">
                <a:solidFill>
                  <a:srgbClr val="D9E6F2"/>
                </a:solidFill>
                <a:latin typeface="Consolas" pitchFamily="34" charset="0"/>
              </a:rPr>
              <a:t>poop:    ["a dog pooping on grass", </a:t>
            </a:r>
          </a:p>
          <a:p>
            <a:r>
              <a:rPr lang="en-US" sz="950" dirty="0">
                <a:solidFill>
                  <a:srgbClr val="D9E6F2"/>
                </a:solidFill>
                <a:latin typeface="Consolas" pitchFamily="34" charset="0"/>
              </a:rPr>
              <a:t>          "a dog defecating outside", </a:t>
            </a:r>
          </a:p>
          <a:p>
            <a:r>
              <a:rPr lang="en-US" sz="950" dirty="0">
                <a:solidFill>
                  <a:srgbClr val="D9E6F2"/>
                </a:solidFill>
                <a:latin typeface="Consolas" pitchFamily="34" charset="0"/>
              </a:rPr>
              <a:t>          "a dog squatting to poop", </a:t>
            </a:r>
          </a:p>
          <a:p>
            <a:r>
              <a:rPr lang="en-US" sz="950" dirty="0">
                <a:solidFill>
                  <a:srgbClr val="D9E6F2"/>
                </a:solidFill>
                <a:latin typeface="Consolas" pitchFamily="34" charset="0"/>
              </a:rPr>
              <a:t>pee:     ["a dog peeing on grass", </a:t>
            </a:r>
          </a:p>
          <a:p>
            <a:r>
              <a:rPr lang="en-US" sz="950" dirty="0">
                <a:solidFill>
                  <a:srgbClr val="D9E6F2"/>
                </a:solidFill>
                <a:latin typeface="Consolas" pitchFamily="34" charset="0"/>
              </a:rPr>
              <a:t>          "a dog urinating outside",</a:t>
            </a:r>
          </a:p>
          <a:p>
            <a:r>
              <a:rPr lang="en-US" sz="950" dirty="0">
                <a:solidFill>
                  <a:srgbClr val="D9E6F2"/>
                </a:solidFill>
                <a:latin typeface="Consolas" pitchFamily="34" charset="0"/>
              </a:rPr>
              <a:t>          "a dog lifting a leg to pee", </a:t>
            </a:r>
          </a:p>
          <a:p>
            <a:r>
              <a:rPr lang="en-US" sz="950" dirty="0">
                <a:solidFill>
                  <a:srgbClr val="D9E6F2"/>
                </a:solidFill>
                <a:latin typeface="Consolas" pitchFamily="34" charset="0"/>
              </a:rPr>
              <a:t>          "a dog squatting to pee", </a:t>
            </a:r>
          </a:p>
          <a:p>
            <a:endParaRPr lang="en-US" sz="950" dirty="0">
              <a:solidFill>
                <a:srgbClr val="D9E6F2"/>
              </a:solidFill>
              <a:latin typeface="Consolas" pitchFamily="34" charset="0"/>
            </a:endParaRPr>
          </a:p>
          <a:p>
            <a:r>
              <a:rPr lang="en-US" sz="950" dirty="0">
                <a:solidFill>
                  <a:srgbClr val="D9E6F2"/>
                </a:solidFill>
                <a:latin typeface="Consolas" pitchFamily="34" charset="0"/>
                <a:ea typeface="Consolas" pitchFamily="34" charset="-122"/>
                <a:cs typeface="Consolas" pitchFamily="34" charset="-120"/>
              </a:rPr>
              <a:t>pee score ≈ </a:t>
            </a:r>
            <a:r>
              <a:rPr lang="nl-NL" sz="950" dirty="0">
                <a:solidFill>
                  <a:srgbClr val="D9E6F2"/>
                </a:solidFill>
                <a:latin typeface="Consolas" pitchFamily="34" charset="0"/>
              </a:rPr>
              <a:t>0.190–0.259</a:t>
            </a:r>
          </a:p>
          <a:p>
            <a:r>
              <a:rPr lang="en-US" sz="950" dirty="0">
                <a:solidFill>
                  <a:srgbClr val="D9E6F2"/>
                </a:solidFill>
                <a:latin typeface="Consolas" pitchFamily="34" charset="0"/>
                <a:ea typeface="Consolas" pitchFamily="34" charset="-122"/>
                <a:cs typeface="Consolas" pitchFamily="34" charset="-120"/>
              </a:rPr>
              <a:t>poop score ≈ </a:t>
            </a:r>
            <a:r>
              <a:rPr lang="nl-NL" sz="950" dirty="0">
                <a:solidFill>
                  <a:srgbClr val="D9E6F2"/>
                </a:solidFill>
                <a:latin typeface="Consolas" pitchFamily="34" charset="0"/>
              </a:rPr>
              <a:t>0.134–0.191</a:t>
            </a:r>
          </a:p>
          <a:p>
            <a:r>
              <a:rPr lang="en-US" sz="950" dirty="0">
                <a:solidFill>
                  <a:srgbClr val="D9E6F2"/>
                </a:solidFill>
                <a:latin typeface="Consolas" pitchFamily="34" charset="0"/>
                <a:ea typeface="Consolas" pitchFamily="34" charset="-122"/>
                <a:cs typeface="Consolas" pitchFamily="34" charset="-120"/>
              </a:rPr>
              <a:t>neutral score ≈ </a:t>
            </a:r>
            <a:r>
              <a:rPr lang="nl-NL" sz="950" dirty="0">
                <a:solidFill>
                  <a:srgbClr val="D9E6F2"/>
                </a:solidFill>
                <a:latin typeface="Consolas" pitchFamily="34" charset="0"/>
              </a:rPr>
              <a:t>0.023–0.024</a:t>
            </a:r>
            <a:endParaRPr lang="en-US" sz="950" dirty="0">
              <a:solidFill>
                <a:srgbClr val="D9E6F2"/>
              </a:solidFill>
              <a:latin typeface="Consolas" pitchFamily="34" charset="0"/>
            </a:endParaRPr>
          </a:p>
          <a:p>
            <a:endParaRPr lang="en-US" sz="950" dirty="0">
              <a:solidFill>
                <a:srgbClr val="D9E6F2"/>
              </a:solidFill>
              <a:latin typeface="Consolas" pitchFamily="34" charset="0"/>
            </a:endParaRPr>
          </a:p>
          <a:p>
            <a:endParaRPr lang="en-US" sz="950" dirty="0">
              <a:solidFill>
                <a:srgbClr val="D9E6F2"/>
              </a:solidFill>
              <a:latin typeface="Consolas" pitchFamily="34" charset="0"/>
            </a:endParaRPr>
          </a:p>
          <a:p>
            <a:endParaRPr lang="en-US" sz="950" dirty="0">
              <a:solidFill>
                <a:srgbClr val="D9E6F2"/>
              </a:solidFill>
              <a:latin typeface="Consolas" pitchFamily="34" charset="0"/>
            </a:endParaRPr>
          </a:p>
          <a:p>
            <a:endParaRPr lang="en-US" sz="950" dirty="0">
              <a:solidFill>
                <a:srgbClr val="D9E6F2"/>
              </a:solidFill>
              <a:latin typeface="Consolas" pitchFamily="34" charset="0"/>
            </a:endParaRPr>
          </a:p>
        </p:txBody>
      </p:sp>
      <p:sp>
        <p:nvSpPr>
          <p:cNvPr id="7"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6</a:t>
            </a:r>
            <a:endParaRPr lang="en-US" sz="850" dirty="0"/>
          </a:p>
        </p:txBody>
      </p:sp>
      <p:sp>
        <p:nvSpPr>
          <p:cNvPr id="8" name="TextBox 7">
            <a:extLst>
              <a:ext uri="{FF2B5EF4-FFF2-40B4-BE49-F238E27FC236}">
                <a16:creationId xmlns:a16="http://schemas.microsoft.com/office/drawing/2014/main" id="{16585899-1925-FAB0-BA24-413F32FDE307}"/>
              </a:ext>
            </a:extLst>
          </p:cNvPr>
          <p:cNvSpPr txBox="1"/>
          <p:nvPr/>
        </p:nvSpPr>
        <p:spPr>
          <a:xfrm>
            <a:off x="779780" y="1772641"/>
            <a:ext cx="2542812" cy="369332"/>
          </a:xfrm>
          <a:prstGeom prst="rect">
            <a:avLst/>
          </a:prstGeom>
          <a:noFill/>
        </p:spPr>
        <p:txBody>
          <a:bodyPr wrap="none" rtlCol="0">
            <a:spAutoFit/>
          </a:bodyPr>
          <a:lstStyle/>
          <a:p>
            <a:r>
              <a:rPr lang="en-US" dirty="0">
                <a:solidFill>
                  <a:schemeClr val="bg1"/>
                </a:solidFill>
              </a:rPr>
              <a:t>Good (Simple Prompts) </a:t>
            </a:r>
          </a:p>
        </p:txBody>
      </p:sp>
      <p:sp>
        <p:nvSpPr>
          <p:cNvPr id="10" name="TextBox 9">
            <a:extLst>
              <a:ext uri="{FF2B5EF4-FFF2-40B4-BE49-F238E27FC236}">
                <a16:creationId xmlns:a16="http://schemas.microsoft.com/office/drawing/2014/main" id="{859313D4-DF1C-7984-DDC3-CC8678B76CA3}"/>
              </a:ext>
            </a:extLst>
          </p:cNvPr>
          <p:cNvSpPr txBox="1"/>
          <p:nvPr/>
        </p:nvSpPr>
        <p:spPr>
          <a:xfrm>
            <a:off x="6292850" y="1777483"/>
            <a:ext cx="6096000" cy="369332"/>
          </a:xfrm>
          <a:prstGeom prst="rect">
            <a:avLst/>
          </a:prstGeom>
          <a:noFill/>
        </p:spPr>
        <p:txBody>
          <a:bodyPr wrap="square">
            <a:spAutoFit/>
          </a:bodyPr>
          <a:lstStyle/>
          <a:p>
            <a:r>
              <a:rPr lang="en-US" dirty="0">
                <a:solidFill>
                  <a:schemeClr val="bg1"/>
                </a:solidFill>
              </a:rPr>
              <a:t>Bad (Multiple/Complex Prompts) </a:t>
            </a:r>
          </a:p>
        </p:txBody>
      </p:sp>
      <p:sp>
        <p:nvSpPr>
          <p:cNvPr id="25" name="TextBox 24">
            <a:extLst>
              <a:ext uri="{FF2B5EF4-FFF2-40B4-BE49-F238E27FC236}">
                <a16:creationId xmlns:a16="http://schemas.microsoft.com/office/drawing/2014/main" id="{CC97873E-AF61-C61E-4DB7-089C934A9F71}"/>
              </a:ext>
            </a:extLst>
          </p:cNvPr>
          <p:cNvSpPr txBox="1"/>
          <p:nvPr/>
        </p:nvSpPr>
        <p:spPr>
          <a:xfrm>
            <a:off x="868680" y="5248715"/>
            <a:ext cx="10332720" cy="914192"/>
          </a:xfrm>
          <a:prstGeom prst="rect">
            <a:avLst/>
          </a:prstGeom>
          <a:solidFill>
            <a:srgbClr val="0B0F13"/>
          </a:solidFill>
          <a:ln>
            <a:solidFill>
              <a:srgbClr val="2B3540"/>
            </a:solidFill>
          </a:ln>
        </p:spPr>
        <p:txBody>
          <a:bodyPr wrap="square" lIns="1524" tIns="1524" rIns="1524" bIns="1524" rtlCol="0" anchor="t">
            <a:normAutofit/>
          </a:bodyPr>
          <a:lstStyle>
            <a:lvl1pPr indent="0">
              <a:buNone/>
              <a:defRPr sz="950">
                <a:solidFill>
                  <a:srgbClr val="D9E6F2"/>
                </a:solidFill>
                <a:latin typeface="Consolas" pitchFamily="34" charset="0"/>
                <a:ea typeface="Consolas" pitchFamily="34" charset="-122"/>
                <a:cs typeface="Consolas" pitchFamily="34" charset="-120"/>
              </a:defRPr>
            </a:lvl1pPr>
          </a:lstStyle>
          <a:p>
            <a:r>
              <a:rPr lang="en-US" dirty="0"/>
              <a:t>CLIP is useful as a runtime confirmation layer (and perhaps when used as a lookout), but not yet reliable as the primary classifier. </a:t>
            </a:r>
          </a:p>
          <a:p>
            <a:endParaRPr lang="en-US" dirty="0"/>
          </a:p>
          <a:p>
            <a:r>
              <a:rPr lang="en-US" dirty="0"/>
              <a:t>Observed issues:</a:t>
            </a:r>
          </a:p>
          <a:p>
            <a:r>
              <a:rPr lang="en-US" dirty="0"/>
              <a:t>Pee is a strong winner of all prompts – even when dog is doing neither</a:t>
            </a:r>
          </a:p>
        </p:txBody>
      </p:sp>
      <p:sp>
        <p:nvSpPr>
          <p:cNvPr id="12" name="TextBox 11">
            <a:extLst>
              <a:ext uri="{FF2B5EF4-FFF2-40B4-BE49-F238E27FC236}">
                <a16:creationId xmlns:a16="http://schemas.microsoft.com/office/drawing/2014/main" id="{F0FE8015-EA06-97ED-B265-8D4C4958F302}"/>
              </a:ext>
            </a:extLst>
          </p:cNvPr>
          <p:cNvSpPr txBox="1"/>
          <p:nvPr/>
        </p:nvSpPr>
        <p:spPr>
          <a:xfrm>
            <a:off x="779780" y="4874540"/>
            <a:ext cx="6194424" cy="369332"/>
          </a:xfrm>
          <a:prstGeom prst="rect">
            <a:avLst/>
          </a:prstGeom>
          <a:noFill/>
        </p:spPr>
        <p:txBody>
          <a:bodyPr wrap="square">
            <a:spAutoFit/>
          </a:bodyPr>
          <a:lstStyle/>
          <a:p>
            <a:r>
              <a:rPr lang="en-US" dirty="0">
                <a:solidFill>
                  <a:schemeClr val="bg1"/>
                </a:solidFill>
              </a:rPr>
              <a:t>Takeaway on CLIP: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Live Capture Evidence</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Detector triggers region crops and annotated output</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pic>
        <p:nvPicPr>
          <p:cNvPr id="5" name="Image 0" descr="/mnt/data/ai_media/ppt/media/image8.png"/>
          <p:cNvPicPr>
            <a:picLocks noChangeAspect="1"/>
          </p:cNvPicPr>
          <p:nvPr/>
        </p:nvPicPr>
        <p:blipFill>
          <a:blip r:embed="rId3"/>
          <a:srcRect l="-152" r="5460"/>
          <a:stretch>
            <a:fillRect/>
          </a:stretch>
        </p:blipFill>
        <p:spPr>
          <a:xfrm>
            <a:off x="272771" y="1369313"/>
            <a:ext cx="6547350" cy="4023360"/>
          </a:xfrm>
          <a:prstGeom prst="rect">
            <a:avLst/>
          </a:prstGeom>
          <a:ln>
            <a:solidFill>
              <a:schemeClr val="tx1"/>
            </a:solidFill>
          </a:ln>
        </p:spPr>
      </p:pic>
      <p:sp>
        <p:nvSpPr>
          <p:cNvPr id="6" name="Text 3"/>
          <p:cNvSpPr/>
          <p:nvPr/>
        </p:nvSpPr>
        <p:spPr>
          <a:xfrm>
            <a:off x="6874655" y="1369313"/>
            <a:ext cx="4983480" cy="3063240"/>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950" dirty="0">
                <a:solidFill>
                  <a:srgbClr val="D9E6F2"/>
                </a:solidFill>
                <a:latin typeface="Consolas" pitchFamily="34" charset="0"/>
                <a:ea typeface="Consolas" pitchFamily="34" charset="-122"/>
                <a:cs typeface="Consolas" pitchFamily="34" charset="-120"/>
              </a:rPr>
              <a:t>[ALARM] Dog detected!</a:t>
            </a:r>
          </a:p>
          <a:p>
            <a:r>
              <a:rPr lang="en-US" sz="950" dirty="0">
                <a:solidFill>
                  <a:srgbClr val="D9E6F2"/>
                </a:solidFill>
                <a:latin typeface="Consolas" pitchFamily="34" charset="0"/>
                <a:ea typeface="Consolas" pitchFamily="34" charset="-122"/>
                <a:cs typeface="Consolas" pitchFamily="34" charset="-120"/>
              </a:rPr>
              <a:t>[POSE] Held 0.04s (ema=0.48)</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[CLIP-CONFIRM] label=pee score=0.552</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  pee=0.552 poop=0.412 neutral=0.029</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region @ (58, 296, 208, 442)</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[INFO] End of video or read error; exiting.</a:t>
            </a:r>
            <a:endParaRPr lang="en-US" sz="950" dirty="0"/>
          </a:p>
        </p:txBody>
      </p:sp>
      <p:sp>
        <p:nvSpPr>
          <p:cNvPr id="7" name="Text 4"/>
          <p:cNvSpPr/>
          <p:nvPr/>
        </p:nvSpPr>
        <p:spPr>
          <a:xfrm>
            <a:off x="7679516" y="4868036"/>
            <a:ext cx="3960796" cy="1471804"/>
          </a:xfrm>
          <a:prstGeom prst="rect">
            <a:avLst/>
          </a:prstGeom>
          <a:noFill/>
          <a:ln/>
        </p:spPr>
        <p:txBody>
          <a:bodyPr wrap="square" lIns="254" tIns="254" rIns="254" bIns="254" rtlCol="0" anchor="t">
            <a:normAutofit/>
          </a:bodyPr>
          <a:lstStyle/>
          <a:p>
            <a:pPr marL="0" indent="0">
              <a:spcAft>
                <a:spcPts val="600"/>
              </a:spcAft>
              <a:buNone/>
            </a:pPr>
            <a:r>
              <a:rPr lang="en-US" sz="1500" dirty="0">
                <a:solidFill>
                  <a:srgbClr val="FFFFFF"/>
                </a:solidFill>
              </a:rPr>
              <a:t>• Event log exposes model confidence by class</a:t>
            </a:r>
            <a:endParaRPr lang="en-US" sz="1500" dirty="0"/>
          </a:p>
          <a:p>
            <a:pPr marL="0" indent="0">
              <a:spcAft>
                <a:spcPts val="600"/>
              </a:spcAft>
              <a:buNone/>
            </a:pPr>
            <a:r>
              <a:rPr lang="en-US" sz="1500" dirty="0">
                <a:solidFill>
                  <a:srgbClr val="FFFFFF"/>
                </a:solidFill>
              </a:rPr>
              <a:t>• Region coordinates enable snapshot/crop storage and comparison imaging</a:t>
            </a:r>
            <a:endParaRPr lang="en-US" sz="1500" dirty="0"/>
          </a:p>
          <a:p>
            <a:pPr marL="0" indent="0">
              <a:spcAft>
                <a:spcPts val="600"/>
              </a:spcAft>
              <a:buNone/>
            </a:pPr>
            <a:r>
              <a:rPr lang="en-US" sz="1500" dirty="0">
                <a:solidFill>
                  <a:srgbClr val="FFFFFF"/>
                </a:solidFill>
              </a:rPr>
              <a:t>• EMA value provides a tunable temporal stability signal</a:t>
            </a:r>
            <a:endParaRPr lang="en-US" sz="1500" dirty="0"/>
          </a:p>
        </p:txBody>
      </p:sp>
      <p:sp>
        <p:nvSpPr>
          <p:cNvPr id="8"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5</a:t>
            </a:r>
            <a:endParaRPr lang="en-US" sz="850" dirty="0"/>
          </a:p>
        </p:txBody>
      </p:sp>
      <p:pic>
        <p:nvPicPr>
          <p:cNvPr id="9" name="Image 0" descr="/mnt/data/final_media/ppt/media/image9.png">
            <a:extLst>
              <a:ext uri="{FF2B5EF4-FFF2-40B4-BE49-F238E27FC236}">
                <a16:creationId xmlns:a16="http://schemas.microsoft.com/office/drawing/2014/main" id="{75030835-3297-2E22-B348-2F9BD215095F}"/>
              </a:ext>
            </a:extLst>
          </p:cNvPr>
          <p:cNvPicPr>
            <a:picLocks noChangeAspect="1"/>
          </p:cNvPicPr>
          <p:nvPr/>
        </p:nvPicPr>
        <p:blipFill>
          <a:blip r:embed="rId4"/>
          <a:srcRect t="5355" b="5355"/>
          <a:stretch/>
        </p:blipFill>
        <p:spPr>
          <a:xfrm>
            <a:off x="4424921" y="4529518"/>
            <a:ext cx="2926080" cy="2148840"/>
          </a:xfrm>
          <a:prstGeom prst="rect">
            <a:avLst/>
          </a:prstGeom>
          <a:ln>
            <a:solidFill>
              <a:schemeClr val="tx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Poop Posture Classifier</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MobileNetV2 remains the strongest trained module</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pic>
        <p:nvPicPr>
          <p:cNvPr id="5" name="Image 0" descr="/mnt/data/final_media/ppt/media/image5.png"/>
          <p:cNvPicPr>
            <a:picLocks noChangeAspect="1"/>
          </p:cNvPicPr>
          <p:nvPr/>
        </p:nvPicPr>
        <p:blipFill>
          <a:blip r:embed="rId3"/>
          <a:srcRect l="2707" r="1352"/>
          <a:stretch>
            <a:fillRect/>
          </a:stretch>
        </p:blipFill>
        <p:spPr>
          <a:xfrm>
            <a:off x="914400" y="1820418"/>
            <a:ext cx="6026150" cy="3108960"/>
          </a:xfrm>
          <a:prstGeom prst="rect">
            <a:avLst/>
          </a:prstGeom>
        </p:spPr>
      </p:pic>
      <p:sp>
        <p:nvSpPr>
          <p:cNvPr id="6" name="Text 3"/>
          <p:cNvSpPr/>
          <p:nvPr/>
        </p:nvSpPr>
        <p:spPr>
          <a:xfrm>
            <a:off x="7156450" y="1765295"/>
            <a:ext cx="3770630" cy="3930650"/>
          </a:xfrm>
          <a:prstGeom prst="rect">
            <a:avLst/>
          </a:prstGeom>
          <a:noFill/>
          <a:ln/>
        </p:spPr>
        <p:txBody>
          <a:bodyPr wrap="square" lIns="254" tIns="254" rIns="254" bIns="254" rtlCol="0" anchor="t">
            <a:normAutofit/>
          </a:bodyPr>
          <a:lstStyle/>
          <a:p>
            <a:pPr marL="0" indent="0">
              <a:spcAft>
                <a:spcPts val="600"/>
              </a:spcAft>
              <a:buNone/>
            </a:pPr>
            <a:r>
              <a:rPr lang="en-US" sz="1600" dirty="0">
                <a:solidFill>
                  <a:srgbClr val="FFFFFF"/>
                </a:solidFill>
              </a:rPr>
              <a:t>• Fine-tuned MobileNetV2 for pooping vs. not-pooping</a:t>
            </a:r>
            <a:endParaRPr lang="en-US" sz="1600" dirty="0"/>
          </a:p>
          <a:p>
            <a:pPr marL="0" indent="0">
              <a:spcAft>
                <a:spcPts val="600"/>
              </a:spcAft>
              <a:buNone/>
            </a:pPr>
            <a:r>
              <a:rPr lang="en-US" sz="1600" dirty="0">
                <a:solidFill>
                  <a:srgbClr val="FFFFFF"/>
                </a:solidFill>
              </a:rPr>
              <a:t>• ~70/15/15 split with strong augmentation (~4,800 images)</a:t>
            </a:r>
            <a:endParaRPr lang="en-US" sz="1600" dirty="0"/>
          </a:p>
          <a:p>
            <a:pPr marL="0" indent="0">
              <a:spcAft>
                <a:spcPts val="600"/>
              </a:spcAft>
              <a:buNone/>
            </a:pPr>
            <a:r>
              <a:rPr lang="en-US" sz="1600" dirty="0">
                <a:solidFill>
                  <a:srgbClr val="FFFFFF"/>
                </a:solidFill>
              </a:rPr>
              <a:t>• AdamW + cosine annealing + label smoothing ε = 0.05</a:t>
            </a:r>
            <a:endParaRPr lang="en-US" sz="1600" dirty="0"/>
          </a:p>
          <a:p>
            <a:pPr marL="0" indent="0">
              <a:spcAft>
                <a:spcPts val="600"/>
              </a:spcAft>
              <a:buNone/>
            </a:pPr>
            <a:r>
              <a:rPr lang="en-US" sz="1600" dirty="0">
                <a:solidFill>
                  <a:srgbClr val="FFFFFF"/>
                </a:solidFill>
              </a:rPr>
              <a:t>• Test accuracy = 99.5%; F1 = 0.994 at τ* = 0.53</a:t>
            </a:r>
            <a:endParaRPr lang="en-US" sz="1600" dirty="0"/>
          </a:p>
          <a:p>
            <a:pPr marL="0" indent="0">
              <a:spcAft>
                <a:spcPts val="600"/>
              </a:spcAft>
              <a:buNone/>
            </a:pPr>
            <a:r>
              <a:rPr lang="en-US" sz="1600" dirty="0">
                <a:solidFill>
                  <a:srgbClr val="FFFFFF"/>
                </a:solidFill>
              </a:rPr>
              <a:t>• Inference under 15 ms/frame on RTX 2080</a:t>
            </a:r>
            <a:endParaRPr lang="en-US" sz="1600" dirty="0"/>
          </a:p>
        </p:txBody>
      </p:sp>
      <p:sp>
        <p:nvSpPr>
          <p:cNvPr id="7" name="Text 4"/>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7</a:t>
            </a:r>
            <a:endParaRPr lang="en-US" sz="850" dirty="0"/>
          </a:p>
        </p:txBody>
      </p:sp>
      <p:sp>
        <p:nvSpPr>
          <p:cNvPr id="8" name="TextBox 7">
            <a:extLst>
              <a:ext uri="{FF2B5EF4-FFF2-40B4-BE49-F238E27FC236}">
                <a16:creationId xmlns:a16="http://schemas.microsoft.com/office/drawing/2014/main" id="{C1B17CE6-0751-77FB-6979-CA16595632B3}"/>
              </a:ext>
            </a:extLst>
          </p:cNvPr>
          <p:cNvSpPr txBox="1"/>
          <p:nvPr/>
        </p:nvSpPr>
        <p:spPr>
          <a:xfrm>
            <a:off x="994918" y="6252710"/>
            <a:ext cx="10116819" cy="369332"/>
          </a:xfrm>
          <a:prstGeom prst="rect">
            <a:avLst/>
          </a:prstGeom>
          <a:noFill/>
        </p:spPr>
        <p:txBody>
          <a:bodyPr wrap="square" rtlCol="0">
            <a:spAutoFit/>
          </a:bodyPr>
          <a:lstStyle/>
          <a:p>
            <a:r>
              <a:rPr lang="en-US" dirty="0">
                <a:solidFill>
                  <a:schemeClr val="bg1"/>
                </a:solidFill>
              </a:rPr>
              <a:t>Dog Pooping dataset pulled from: https://www.kaggle.com/datasets/wengjiyao/dog-poop-dataset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Pee Detection: YOLO Dataset Lessons</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Roboflow model was useful, but biased</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pic>
        <p:nvPicPr>
          <p:cNvPr id="5" name="Image 0" descr="/mnt/data/final_media/ppt/media/image6.png"/>
          <p:cNvPicPr>
            <a:picLocks noChangeAspect="1"/>
          </p:cNvPicPr>
          <p:nvPr/>
        </p:nvPicPr>
        <p:blipFill>
          <a:blip r:embed="rId3"/>
          <a:srcRect l="7709" r="7709"/>
          <a:stretch/>
        </p:blipFill>
        <p:spPr>
          <a:xfrm>
            <a:off x="841248" y="1508760"/>
            <a:ext cx="4617720" cy="3200400"/>
          </a:xfrm>
          <a:prstGeom prst="rect">
            <a:avLst/>
          </a:prstGeom>
        </p:spPr>
      </p:pic>
      <p:sp>
        <p:nvSpPr>
          <p:cNvPr id="6" name="Text 3"/>
          <p:cNvSpPr/>
          <p:nvPr/>
        </p:nvSpPr>
        <p:spPr>
          <a:xfrm>
            <a:off x="5897880" y="1554480"/>
            <a:ext cx="4892040" cy="2057400"/>
          </a:xfrm>
          <a:prstGeom prst="rect">
            <a:avLst/>
          </a:prstGeom>
          <a:noFill/>
          <a:ln/>
        </p:spPr>
        <p:txBody>
          <a:bodyPr wrap="square" lIns="254" tIns="254" rIns="254" bIns="254" rtlCol="0" anchor="t">
            <a:normAutofit fontScale="85000" lnSpcReduction="10000"/>
          </a:bodyPr>
          <a:lstStyle/>
          <a:p>
            <a:pPr>
              <a:spcAft>
                <a:spcPts val="600"/>
              </a:spcAft>
            </a:pPr>
            <a:r>
              <a:rPr lang="en-US" sz="1700" dirty="0">
                <a:solidFill>
                  <a:srgbClr val="FFFFFF"/>
                </a:solidFill>
              </a:rPr>
              <a:t>• Custom pee vs. not-pee annotated dataset in </a:t>
            </a:r>
            <a:r>
              <a:rPr lang="en-US" sz="1700" dirty="0" err="1">
                <a:solidFill>
                  <a:srgbClr val="FFFFFF"/>
                </a:solidFill>
              </a:rPr>
              <a:t>Roboflow</a:t>
            </a:r>
            <a:endParaRPr lang="en-US" sz="1700" dirty="0"/>
          </a:p>
          <a:p>
            <a:pPr>
              <a:spcAft>
                <a:spcPts val="600"/>
              </a:spcAft>
            </a:pPr>
            <a:r>
              <a:rPr lang="en-US" sz="1700" dirty="0">
                <a:solidFill>
                  <a:srgbClr val="FFFFFF"/>
                </a:solidFill>
              </a:rPr>
              <a:t>• ~1,200 augmented positive images and ~850 negatives</a:t>
            </a:r>
            <a:endParaRPr lang="en-US" sz="1700" dirty="0"/>
          </a:p>
          <a:p>
            <a:pPr>
              <a:spcAft>
                <a:spcPts val="600"/>
              </a:spcAft>
            </a:pPr>
            <a:r>
              <a:rPr lang="en-US" sz="1700" dirty="0">
                <a:solidFill>
                  <a:srgbClr val="FFFFFF"/>
                </a:solidFill>
              </a:rPr>
              <a:t>• YOLOv11 posture model over-predicted “peeing” on videos</a:t>
            </a:r>
          </a:p>
          <a:p>
            <a:pPr>
              <a:spcAft>
                <a:spcPts val="600"/>
              </a:spcAft>
            </a:pPr>
            <a:endParaRPr lang="en-US" sz="1700" dirty="0">
              <a:solidFill>
                <a:srgbClr val="FFFFFF"/>
              </a:solidFill>
            </a:endParaRPr>
          </a:p>
          <a:p>
            <a:pPr>
              <a:spcAft>
                <a:spcPts val="600"/>
              </a:spcAft>
            </a:pPr>
            <a:endParaRPr lang="en-US" sz="1700" dirty="0">
              <a:solidFill>
                <a:srgbClr val="FFFFFF"/>
              </a:solidFill>
            </a:endParaRPr>
          </a:p>
          <a:p>
            <a:pPr>
              <a:spcAft>
                <a:spcPts val="600"/>
              </a:spcAft>
            </a:pPr>
            <a:r>
              <a:rPr lang="en-US" sz="1600" dirty="0">
                <a:solidFill>
                  <a:srgbClr val="FFFFFF"/>
                </a:solidFill>
              </a:rPr>
              <a:t>• Train accuracy 99.6%; validation accuracy 86.9%</a:t>
            </a:r>
            <a:endParaRPr lang="en-US" sz="1600" dirty="0"/>
          </a:p>
          <a:p>
            <a:pPr>
              <a:spcAft>
                <a:spcPts val="600"/>
              </a:spcAft>
            </a:pPr>
            <a:r>
              <a:rPr lang="en-US" sz="1600" dirty="0">
                <a:solidFill>
                  <a:srgbClr val="FFFFFF"/>
                </a:solidFill>
              </a:rPr>
              <a:t>• Classifier is biased toward pee</a:t>
            </a:r>
            <a:endParaRPr lang="en-US" sz="1600" dirty="0"/>
          </a:p>
        </p:txBody>
      </p:sp>
      <p:sp>
        <p:nvSpPr>
          <p:cNvPr id="7" name="Text 4"/>
          <p:cNvSpPr/>
          <p:nvPr/>
        </p:nvSpPr>
        <p:spPr>
          <a:xfrm>
            <a:off x="841248" y="4846320"/>
            <a:ext cx="4617720" cy="256032"/>
          </a:xfrm>
          <a:prstGeom prst="rect">
            <a:avLst/>
          </a:prstGeom>
          <a:noFill/>
          <a:ln/>
        </p:spPr>
        <p:txBody>
          <a:bodyPr wrap="square" lIns="0" tIns="0" rIns="0" bIns="0" rtlCol="0" anchor="ctr"/>
          <a:lstStyle/>
          <a:p>
            <a:pPr marL="0" indent="0" algn="ctr">
              <a:buNone/>
            </a:pPr>
            <a:r>
              <a:rPr lang="en-US" sz="850" i="1" dirty="0">
                <a:solidFill>
                  <a:srgbClr val="B8C0C9"/>
                </a:solidFill>
              </a:rPr>
              <a:t>Positive and negative examples show why geometry is subtle</a:t>
            </a:r>
            <a:endParaRPr lang="en-US" sz="850" dirty="0"/>
          </a:p>
        </p:txBody>
      </p:sp>
      <p:sp>
        <p:nvSpPr>
          <p:cNvPr id="8"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8</a:t>
            </a:r>
            <a:endParaRPr lang="en-US" sz="850" dirty="0"/>
          </a:p>
        </p:txBody>
      </p:sp>
      <p:sp>
        <p:nvSpPr>
          <p:cNvPr id="9" name="Text 3">
            <a:extLst>
              <a:ext uri="{FF2B5EF4-FFF2-40B4-BE49-F238E27FC236}">
                <a16:creationId xmlns:a16="http://schemas.microsoft.com/office/drawing/2014/main" id="{C229996D-CC60-7E17-B8F5-481C75C8475B}"/>
              </a:ext>
            </a:extLst>
          </p:cNvPr>
          <p:cNvSpPr/>
          <p:nvPr/>
        </p:nvSpPr>
        <p:spPr>
          <a:xfrm>
            <a:off x="6889537" y="4791790"/>
            <a:ext cx="2286000" cy="320040"/>
          </a:xfrm>
          <a:prstGeom prst="rect">
            <a:avLst/>
          </a:prstGeom>
          <a:noFill/>
          <a:ln/>
        </p:spPr>
        <p:txBody>
          <a:bodyPr wrap="square" lIns="254" tIns="254" rIns="254" bIns="254" rtlCol="0" anchor="t">
            <a:normAutofit/>
          </a:bodyPr>
          <a:lstStyle/>
          <a:p>
            <a:pPr marL="0" indent="0">
              <a:buNone/>
            </a:pPr>
            <a:r>
              <a:rPr lang="en-US" sz="1800" b="1" dirty="0">
                <a:solidFill>
                  <a:srgbClr val="FFFFFF"/>
                </a:solidFill>
              </a:rPr>
              <a:t>Confusion matrix</a:t>
            </a:r>
            <a:endParaRPr lang="en-US" sz="1800" dirty="0"/>
          </a:p>
        </p:txBody>
      </p:sp>
      <p:sp>
        <p:nvSpPr>
          <p:cNvPr id="10" name="Text 4">
            <a:extLst>
              <a:ext uri="{FF2B5EF4-FFF2-40B4-BE49-F238E27FC236}">
                <a16:creationId xmlns:a16="http://schemas.microsoft.com/office/drawing/2014/main" id="{CA2D8156-B080-AC8A-F93B-1F7C879AE2BC}"/>
              </a:ext>
            </a:extLst>
          </p:cNvPr>
          <p:cNvSpPr/>
          <p:nvPr/>
        </p:nvSpPr>
        <p:spPr>
          <a:xfrm>
            <a:off x="6889537" y="5203270"/>
            <a:ext cx="1161288" cy="411480"/>
          </a:xfrm>
          <a:prstGeom prst="rect">
            <a:avLst/>
          </a:prstGeom>
          <a:solidFill>
            <a:srgbClr val="203040"/>
          </a:solidFill>
          <a:ln>
            <a:solidFill>
              <a:srgbClr val="44515E"/>
            </a:solidFill>
          </a:ln>
        </p:spPr>
        <p:txBody>
          <a:bodyPr wrap="square" lIns="381" tIns="381" rIns="381" bIns="381" rtlCol="0" anchor="ctr"/>
          <a:lstStyle/>
          <a:p>
            <a:pPr marL="0" indent="0" algn="ctr">
              <a:buNone/>
            </a:pPr>
            <a:r>
              <a:rPr lang="en-US" sz="1250" b="1" dirty="0">
                <a:solidFill>
                  <a:srgbClr val="FFFFFF"/>
                </a:solidFill>
              </a:rPr>
              <a:t>Acc=86.7%</a:t>
            </a:r>
            <a:endParaRPr lang="en-US" sz="1250" dirty="0"/>
          </a:p>
        </p:txBody>
      </p:sp>
      <p:sp>
        <p:nvSpPr>
          <p:cNvPr id="11" name="Text 5">
            <a:extLst>
              <a:ext uri="{FF2B5EF4-FFF2-40B4-BE49-F238E27FC236}">
                <a16:creationId xmlns:a16="http://schemas.microsoft.com/office/drawing/2014/main" id="{65B5B441-7C0C-BF8E-B805-6EBBA34C222A}"/>
              </a:ext>
            </a:extLst>
          </p:cNvPr>
          <p:cNvSpPr/>
          <p:nvPr/>
        </p:nvSpPr>
        <p:spPr>
          <a:xfrm>
            <a:off x="8050825" y="5203270"/>
            <a:ext cx="1161288" cy="411480"/>
          </a:xfrm>
          <a:prstGeom prst="rect">
            <a:avLst/>
          </a:prstGeom>
          <a:solidFill>
            <a:srgbClr val="203040"/>
          </a:solidFill>
          <a:ln>
            <a:solidFill>
              <a:srgbClr val="44515E"/>
            </a:solidFill>
          </a:ln>
        </p:spPr>
        <p:txBody>
          <a:bodyPr wrap="square" lIns="381" tIns="381" rIns="381" bIns="381" rtlCol="0" anchor="ctr"/>
          <a:lstStyle/>
          <a:p>
            <a:pPr marL="0" indent="0" algn="ctr">
              <a:buNone/>
            </a:pPr>
            <a:r>
              <a:rPr lang="en-US" sz="1250" b="1" dirty="0">
                <a:solidFill>
                  <a:srgbClr val="FFFFFF"/>
                </a:solidFill>
              </a:rPr>
              <a:t>Not pee</a:t>
            </a:r>
            <a:endParaRPr lang="en-US" sz="1250" dirty="0"/>
          </a:p>
        </p:txBody>
      </p:sp>
      <p:sp>
        <p:nvSpPr>
          <p:cNvPr id="12" name="Text 6">
            <a:extLst>
              <a:ext uri="{FF2B5EF4-FFF2-40B4-BE49-F238E27FC236}">
                <a16:creationId xmlns:a16="http://schemas.microsoft.com/office/drawing/2014/main" id="{48E2C1AE-2006-3DA3-89BB-67496F5F593B}"/>
              </a:ext>
            </a:extLst>
          </p:cNvPr>
          <p:cNvSpPr/>
          <p:nvPr/>
        </p:nvSpPr>
        <p:spPr>
          <a:xfrm>
            <a:off x="9212113" y="5203270"/>
            <a:ext cx="1161288" cy="411480"/>
          </a:xfrm>
          <a:prstGeom prst="rect">
            <a:avLst/>
          </a:prstGeom>
          <a:solidFill>
            <a:srgbClr val="203040"/>
          </a:solidFill>
          <a:ln>
            <a:solidFill>
              <a:srgbClr val="44515E"/>
            </a:solidFill>
          </a:ln>
        </p:spPr>
        <p:txBody>
          <a:bodyPr wrap="square" lIns="381" tIns="381" rIns="381" bIns="381" rtlCol="0" anchor="ctr"/>
          <a:lstStyle/>
          <a:p>
            <a:pPr marL="0" indent="0" algn="ctr">
              <a:buNone/>
            </a:pPr>
            <a:r>
              <a:rPr lang="en-US" sz="1250" b="1" dirty="0">
                <a:solidFill>
                  <a:srgbClr val="FFFFFF"/>
                </a:solidFill>
              </a:rPr>
              <a:t>Pee</a:t>
            </a:r>
            <a:endParaRPr lang="en-US" sz="1250" dirty="0"/>
          </a:p>
        </p:txBody>
      </p:sp>
      <p:sp>
        <p:nvSpPr>
          <p:cNvPr id="13" name="Text 7">
            <a:extLst>
              <a:ext uri="{FF2B5EF4-FFF2-40B4-BE49-F238E27FC236}">
                <a16:creationId xmlns:a16="http://schemas.microsoft.com/office/drawing/2014/main" id="{95BC4152-1715-234C-2217-01F0A390334E}"/>
              </a:ext>
            </a:extLst>
          </p:cNvPr>
          <p:cNvSpPr/>
          <p:nvPr/>
        </p:nvSpPr>
        <p:spPr>
          <a:xfrm>
            <a:off x="6889537" y="561475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b="1" dirty="0">
                <a:solidFill>
                  <a:srgbClr val="FFFFFF"/>
                </a:solidFill>
              </a:rPr>
              <a:t>Not pee</a:t>
            </a:r>
            <a:endParaRPr lang="en-US" sz="1250" dirty="0"/>
          </a:p>
        </p:txBody>
      </p:sp>
      <p:sp>
        <p:nvSpPr>
          <p:cNvPr id="14" name="Text 8">
            <a:extLst>
              <a:ext uri="{FF2B5EF4-FFF2-40B4-BE49-F238E27FC236}">
                <a16:creationId xmlns:a16="http://schemas.microsoft.com/office/drawing/2014/main" id="{E8726DAA-6C72-D092-8C40-364030068DFF}"/>
              </a:ext>
            </a:extLst>
          </p:cNvPr>
          <p:cNvSpPr/>
          <p:nvPr/>
        </p:nvSpPr>
        <p:spPr>
          <a:xfrm>
            <a:off x="8050825" y="561475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286</a:t>
            </a:r>
            <a:endParaRPr lang="en-US" sz="1250" dirty="0"/>
          </a:p>
        </p:txBody>
      </p:sp>
      <p:sp>
        <p:nvSpPr>
          <p:cNvPr id="15" name="Text 9">
            <a:extLst>
              <a:ext uri="{FF2B5EF4-FFF2-40B4-BE49-F238E27FC236}">
                <a16:creationId xmlns:a16="http://schemas.microsoft.com/office/drawing/2014/main" id="{54E73021-557C-7E59-EF9B-12E8E08FEFC5}"/>
              </a:ext>
            </a:extLst>
          </p:cNvPr>
          <p:cNvSpPr/>
          <p:nvPr/>
        </p:nvSpPr>
        <p:spPr>
          <a:xfrm>
            <a:off x="9212113" y="561475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86</a:t>
            </a:r>
            <a:endParaRPr lang="en-US" sz="1250" dirty="0"/>
          </a:p>
        </p:txBody>
      </p:sp>
      <p:sp>
        <p:nvSpPr>
          <p:cNvPr id="16" name="Text 10">
            <a:extLst>
              <a:ext uri="{FF2B5EF4-FFF2-40B4-BE49-F238E27FC236}">
                <a16:creationId xmlns:a16="http://schemas.microsoft.com/office/drawing/2014/main" id="{83027E0E-A2C2-BF20-D348-B7523CFDDAFE}"/>
              </a:ext>
            </a:extLst>
          </p:cNvPr>
          <p:cNvSpPr/>
          <p:nvPr/>
        </p:nvSpPr>
        <p:spPr>
          <a:xfrm>
            <a:off x="6889537" y="602623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b="1" dirty="0">
                <a:solidFill>
                  <a:srgbClr val="FFFFFF"/>
                </a:solidFill>
              </a:rPr>
              <a:t>Pee</a:t>
            </a:r>
            <a:endParaRPr lang="en-US" sz="1250" dirty="0"/>
          </a:p>
        </p:txBody>
      </p:sp>
      <p:sp>
        <p:nvSpPr>
          <p:cNvPr id="17" name="Text 11">
            <a:extLst>
              <a:ext uri="{FF2B5EF4-FFF2-40B4-BE49-F238E27FC236}">
                <a16:creationId xmlns:a16="http://schemas.microsoft.com/office/drawing/2014/main" id="{2F1A3A75-B631-3B4F-F224-8D9012D0EE55}"/>
              </a:ext>
            </a:extLst>
          </p:cNvPr>
          <p:cNvSpPr/>
          <p:nvPr/>
        </p:nvSpPr>
        <p:spPr>
          <a:xfrm>
            <a:off x="8050825" y="602623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8</a:t>
            </a:r>
            <a:endParaRPr lang="en-US" sz="1250" dirty="0"/>
          </a:p>
        </p:txBody>
      </p:sp>
      <p:sp>
        <p:nvSpPr>
          <p:cNvPr id="18" name="Text 12">
            <a:extLst>
              <a:ext uri="{FF2B5EF4-FFF2-40B4-BE49-F238E27FC236}">
                <a16:creationId xmlns:a16="http://schemas.microsoft.com/office/drawing/2014/main" id="{EE127A05-786E-8628-6B0A-926721316191}"/>
              </a:ext>
            </a:extLst>
          </p:cNvPr>
          <p:cNvSpPr/>
          <p:nvPr/>
        </p:nvSpPr>
        <p:spPr>
          <a:xfrm>
            <a:off x="9212113" y="602623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336</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Stabilizing Event Decisions</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EMA + hysteresis prevent flicker</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868680" y="1554480"/>
            <a:ext cx="9875520" cy="365760"/>
          </a:xfrm>
          <a:prstGeom prst="rect">
            <a:avLst/>
          </a:prstGeom>
          <a:noFill/>
          <a:ln/>
        </p:spPr>
        <p:txBody>
          <a:bodyPr wrap="square" lIns="254" tIns="254" rIns="254" bIns="254" rtlCol="0" anchor="t">
            <a:normAutofit fontScale="85000" lnSpcReduction="10000"/>
          </a:bodyPr>
          <a:lstStyle/>
          <a:p>
            <a:pPr marL="0" indent="0">
              <a:buNone/>
            </a:pPr>
            <a:r>
              <a:rPr lang="en-US" sz="2000" b="1" dirty="0">
                <a:solidFill>
                  <a:srgbClr val="FFFFFF"/>
                </a:solidFill>
              </a:rPr>
              <a:t>EMA smooths probability over time. ON/OFF thresholds create stable entry/exit conditions.</a:t>
            </a:r>
            <a:endParaRPr lang="en-US" sz="2000" dirty="0"/>
          </a:p>
        </p:txBody>
      </p:sp>
      <p:sp>
        <p:nvSpPr>
          <p:cNvPr id="6" name="Text 4"/>
          <p:cNvSpPr/>
          <p:nvPr/>
        </p:nvSpPr>
        <p:spPr>
          <a:xfrm>
            <a:off x="868680" y="2743200"/>
            <a:ext cx="1965960" cy="658368"/>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Raw score</a:t>
            </a:r>
            <a:endParaRPr lang="en-US" sz="1300" dirty="0"/>
          </a:p>
        </p:txBody>
      </p:sp>
      <p:sp>
        <p:nvSpPr>
          <p:cNvPr id="7" name="Text 5"/>
          <p:cNvSpPr/>
          <p:nvPr/>
        </p:nvSpPr>
        <p:spPr>
          <a:xfrm>
            <a:off x="91440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per-frame confidence</a:t>
            </a:r>
            <a:endParaRPr lang="en-US" sz="1000" dirty="0"/>
          </a:p>
        </p:txBody>
      </p:sp>
      <p:sp>
        <p:nvSpPr>
          <p:cNvPr id="8" name="Shape 6"/>
          <p:cNvSpPr/>
          <p:nvPr/>
        </p:nvSpPr>
        <p:spPr>
          <a:xfrm>
            <a:off x="2852928" y="3072384"/>
            <a:ext cx="310896" cy="0"/>
          </a:xfrm>
          <a:prstGeom prst="line">
            <a:avLst/>
          </a:prstGeom>
          <a:noFill/>
          <a:ln w="12700">
            <a:solidFill>
              <a:srgbClr val="B8C0C9"/>
            </a:solidFill>
            <a:prstDash val="solid"/>
            <a:tailEnd type="triangle"/>
          </a:ln>
        </p:spPr>
        <p:txBody>
          <a:bodyPr/>
          <a:lstStyle/>
          <a:p>
            <a:endParaRPr lang="en-US"/>
          </a:p>
        </p:txBody>
      </p:sp>
      <p:sp>
        <p:nvSpPr>
          <p:cNvPr id="9" name="Text 7"/>
          <p:cNvSpPr/>
          <p:nvPr/>
        </p:nvSpPr>
        <p:spPr>
          <a:xfrm>
            <a:off x="3017520" y="2743200"/>
            <a:ext cx="1965960" cy="658368"/>
          </a:xfrm>
          <a:prstGeom prst="rect">
            <a:avLst/>
          </a:prstGeom>
          <a:solidFill>
            <a:srgbClr val="0FB7B5"/>
          </a:solidFill>
          <a:ln>
            <a:solidFill>
              <a:srgbClr val="0FB7B5">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EMA</a:t>
            </a:r>
            <a:endParaRPr lang="en-US" sz="1300" dirty="0"/>
          </a:p>
        </p:txBody>
      </p:sp>
      <p:sp>
        <p:nvSpPr>
          <p:cNvPr id="10" name="Text 8"/>
          <p:cNvSpPr/>
          <p:nvPr/>
        </p:nvSpPr>
        <p:spPr>
          <a:xfrm>
            <a:off x="306324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smoothed score</a:t>
            </a:r>
            <a:endParaRPr lang="en-US" sz="1000" dirty="0"/>
          </a:p>
        </p:txBody>
      </p:sp>
      <p:sp>
        <p:nvSpPr>
          <p:cNvPr id="11" name="Shape 9"/>
          <p:cNvSpPr/>
          <p:nvPr/>
        </p:nvSpPr>
        <p:spPr>
          <a:xfrm>
            <a:off x="5001768" y="3072384"/>
            <a:ext cx="310896" cy="0"/>
          </a:xfrm>
          <a:prstGeom prst="line">
            <a:avLst/>
          </a:prstGeom>
          <a:noFill/>
          <a:ln w="12700">
            <a:solidFill>
              <a:srgbClr val="B8C0C9"/>
            </a:solidFill>
            <a:prstDash val="solid"/>
            <a:tailEnd type="triangle"/>
          </a:ln>
        </p:spPr>
        <p:txBody>
          <a:bodyPr/>
          <a:lstStyle/>
          <a:p>
            <a:endParaRPr lang="en-US"/>
          </a:p>
        </p:txBody>
      </p:sp>
      <p:sp>
        <p:nvSpPr>
          <p:cNvPr id="12" name="Text 10"/>
          <p:cNvSpPr/>
          <p:nvPr/>
        </p:nvSpPr>
        <p:spPr>
          <a:xfrm>
            <a:off x="5166360" y="2743200"/>
            <a:ext cx="1965960" cy="658368"/>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ON threshold</a:t>
            </a:r>
            <a:endParaRPr lang="en-US" sz="1300" dirty="0"/>
          </a:p>
        </p:txBody>
      </p:sp>
      <p:sp>
        <p:nvSpPr>
          <p:cNvPr id="13" name="Text 11"/>
          <p:cNvSpPr/>
          <p:nvPr/>
        </p:nvSpPr>
        <p:spPr>
          <a:xfrm>
            <a:off x="521208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start event</a:t>
            </a:r>
            <a:endParaRPr lang="en-US" sz="1000" dirty="0"/>
          </a:p>
        </p:txBody>
      </p:sp>
      <p:sp>
        <p:nvSpPr>
          <p:cNvPr id="14" name="Shape 12"/>
          <p:cNvSpPr/>
          <p:nvPr/>
        </p:nvSpPr>
        <p:spPr>
          <a:xfrm>
            <a:off x="7150608" y="3072384"/>
            <a:ext cx="310896" cy="0"/>
          </a:xfrm>
          <a:prstGeom prst="line">
            <a:avLst/>
          </a:prstGeom>
          <a:noFill/>
          <a:ln w="12700">
            <a:solidFill>
              <a:srgbClr val="B8C0C9"/>
            </a:solidFill>
            <a:prstDash val="solid"/>
            <a:tailEnd type="triangle"/>
          </a:ln>
        </p:spPr>
        <p:txBody>
          <a:bodyPr/>
          <a:lstStyle/>
          <a:p>
            <a:endParaRPr lang="en-US"/>
          </a:p>
        </p:txBody>
      </p:sp>
      <p:sp>
        <p:nvSpPr>
          <p:cNvPr id="15" name="Text 13"/>
          <p:cNvSpPr/>
          <p:nvPr/>
        </p:nvSpPr>
        <p:spPr>
          <a:xfrm>
            <a:off x="7315200" y="2743200"/>
            <a:ext cx="1965960" cy="658368"/>
          </a:xfrm>
          <a:prstGeom prst="rect">
            <a:avLst/>
          </a:prstGeom>
          <a:solidFill>
            <a:srgbClr val="F16C24"/>
          </a:solidFill>
          <a:ln>
            <a:solidFill>
              <a:srgbClr val="F16C24">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OFF threshold</a:t>
            </a:r>
            <a:endParaRPr lang="en-US" sz="1300" dirty="0"/>
          </a:p>
        </p:txBody>
      </p:sp>
      <p:sp>
        <p:nvSpPr>
          <p:cNvPr id="16" name="Text 14"/>
          <p:cNvSpPr/>
          <p:nvPr/>
        </p:nvSpPr>
        <p:spPr>
          <a:xfrm>
            <a:off x="736092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end event</a:t>
            </a:r>
            <a:endParaRPr lang="en-US" sz="1000" dirty="0"/>
          </a:p>
        </p:txBody>
      </p:sp>
      <p:sp>
        <p:nvSpPr>
          <p:cNvPr id="17" name="Shape 15"/>
          <p:cNvSpPr/>
          <p:nvPr/>
        </p:nvSpPr>
        <p:spPr>
          <a:xfrm>
            <a:off x="9299448" y="3072384"/>
            <a:ext cx="310896" cy="0"/>
          </a:xfrm>
          <a:prstGeom prst="line">
            <a:avLst/>
          </a:prstGeom>
          <a:noFill/>
          <a:ln w="12700">
            <a:solidFill>
              <a:srgbClr val="B8C0C9"/>
            </a:solidFill>
            <a:prstDash val="solid"/>
            <a:tailEnd type="triangle"/>
          </a:ln>
        </p:spPr>
        <p:txBody>
          <a:bodyPr/>
          <a:lstStyle/>
          <a:p>
            <a:endParaRPr lang="en-US"/>
          </a:p>
        </p:txBody>
      </p:sp>
      <p:sp>
        <p:nvSpPr>
          <p:cNvPr id="18" name="Text 16"/>
          <p:cNvSpPr/>
          <p:nvPr/>
        </p:nvSpPr>
        <p:spPr>
          <a:xfrm>
            <a:off x="9464040" y="2743200"/>
            <a:ext cx="1965960" cy="658368"/>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Snapshot/crop</a:t>
            </a:r>
            <a:endParaRPr lang="en-US" sz="1300" dirty="0"/>
          </a:p>
        </p:txBody>
      </p:sp>
      <p:sp>
        <p:nvSpPr>
          <p:cNvPr id="19" name="Text 17"/>
          <p:cNvSpPr/>
          <p:nvPr/>
        </p:nvSpPr>
        <p:spPr>
          <a:xfrm>
            <a:off x="950976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station action evidence</a:t>
            </a:r>
            <a:endParaRPr lang="en-US" sz="1000" dirty="0"/>
          </a:p>
        </p:txBody>
      </p:sp>
      <p:sp>
        <p:nvSpPr>
          <p:cNvPr id="20" name="Text 18"/>
          <p:cNvSpPr/>
          <p:nvPr/>
        </p:nvSpPr>
        <p:spPr>
          <a:xfrm>
            <a:off x="1115568" y="4709160"/>
            <a:ext cx="9692640" cy="804672"/>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950" dirty="0">
                <a:solidFill>
                  <a:srgbClr val="D9E6F2"/>
                </a:solidFill>
                <a:latin typeface="Consolas" pitchFamily="34" charset="0"/>
                <a:ea typeface="Consolas" pitchFamily="34" charset="-122"/>
                <a:cs typeface="Consolas" pitchFamily="34" charset="-120"/>
              </a:rPr>
              <a:t>Stable event = ema &gt; tau_on for hold_time; event exits when ema &lt; tau_off. This avoids repeated alarms and captures one useful crop per event.</a:t>
            </a:r>
            <a:endParaRPr lang="en-US" sz="950" dirty="0"/>
          </a:p>
        </p:txBody>
      </p:sp>
      <p:sp>
        <p:nvSpPr>
          <p:cNvPr id="21" name="Text 19"/>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11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Future Work &amp; Impact… and FINI!</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What must improve before field deployment</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914400" y="1554480"/>
            <a:ext cx="2377440" cy="1005840"/>
          </a:xfrm>
          <a:prstGeom prst="rect">
            <a:avLst/>
          </a:prstGeom>
          <a:solidFill>
            <a:srgbClr val="F16C24"/>
          </a:solidFill>
          <a:ln>
            <a:solidFill>
              <a:srgbClr val="F16C24">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01</a:t>
            </a:r>
            <a:endParaRPr lang="en-US" sz="1500" dirty="0"/>
          </a:p>
          <a:p>
            <a:pPr marL="0" indent="0" algn="ctr">
              <a:buNone/>
            </a:pPr>
            <a:r>
              <a:rPr lang="en-US" sz="1500" b="1" dirty="0">
                <a:solidFill>
                  <a:srgbClr val="FFFFFF"/>
                </a:solidFill>
              </a:rPr>
              <a:t>Expand/Refine pee dataset</a:t>
            </a:r>
            <a:endParaRPr lang="en-US" sz="1500" dirty="0"/>
          </a:p>
        </p:txBody>
      </p:sp>
      <p:sp>
        <p:nvSpPr>
          <p:cNvPr id="6" name="Text 4"/>
          <p:cNvSpPr/>
          <p:nvPr/>
        </p:nvSpPr>
        <p:spPr>
          <a:xfrm>
            <a:off x="3566160" y="1554480"/>
            <a:ext cx="2377440" cy="1005840"/>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02</a:t>
            </a:r>
            <a:endParaRPr lang="en-US" sz="1500" dirty="0"/>
          </a:p>
          <a:p>
            <a:pPr marL="0" indent="0" algn="ctr">
              <a:buNone/>
            </a:pPr>
            <a:r>
              <a:rPr lang="en-US" sz="1500" b="1" dirty="0">
                <a:solidFill>
                  <a:srgbClr val="FFFFFF"/>
                </a:solidFill>
              </a:rPr>
              <a:t>Integrate all dog software and get physical alarm working</a:t>
            </a:r>
            <a:endParaRPr lang="en-US" sz="1500" dirty="0"/>
          </a:p>
        </p:txBody>
      </p:sp>
      <p:sp>
        <p:nvSpPr>
          <p:cNvPr id="7" name="Text 5"/>
          <p:cNvSpPr/>
          <p:nvPr/>
        </p:nvSpPr>
        <p:spPr>
          <a:xfrm>
            <a:off x="6217920" y="1554480"/>
            <a:ext cx="2377440" cy="1005840"/>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03</a:t>
            </a:r>
            <a:endParaRPr lang="en-US" sz="1500" dirty="0"/>
          </a:p>
          <a:p>
            <a:pPr marL="0" indent="0" algn="ctr">
              <a:buNone/>
            </a:pPr>
            <a:r>
              <a:rPr lang="en-US" sz="1500" b="1" dirty="0">
                <a:solidFill>
                  <a:srgbClr val="FFFFFF"/>
                </a:solidFill>
              </a:rPr>
              <a:t>Add </a:t>
            </a:r>
            <a:r>
              <a:rPr lang="en-US" sz="1500" b="1" dirty="0" err="1">
                <a:solidFill>
                  <a:srgbClr val="FFFFFF"/>
                </a:solidFill>
              </a:rPr>
              <a:t>ExG</a:t>
            </a:r>
            <a:r>
              <a:rPr lang="en-US" sz="1500" b="1" dirty="0">
                <a:solidFill>
                  <a:srgbClr val="FFFFFF"/>
                </a:solidFill>
              </a:rPr>
              <a:t> / VARI algorithms (Lawn health)</a:t>
            </a:r>
            <a:endParaRPr lang="en-US" sz="1500" dirty="0"/>
          </a:p>
        </p:txBody>
      </p:sp>
      <p:sp>
        <p:nvSpPr>
          <p:cNvPr id="8" name="Text 6"/>
          <p:cNvSpPr/>
          <p:nvPr/>
        </p:nvSpPr>
        <p:spPr>
          <a:xfrm>
            <a:off x="8869680" y="1554480"/>
            <a:ext cx="2377440" cy="1005840"/>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04</a:t>
            </a:r>
            <a:endParaRPr lang="en-US" sz="1500" dirty="0"/>
          </a:p>
          <a:p>
            <a:pPr marL="0" indent="0" algn="ctr">
              <a:buNone/>
            </a:pPr>
            <a:r>
              <a:rPr lang="en-US" sz="1500" b="1" dirty="0">
                <a:solidFill>
                  <a:srgbClr val="FFFFFF"/>
                </a:solidFill>
              </a:rPr>
              <a:t>Test water savings, Integrate hardware</a:t>
            </a:r>
            <a:endParaRPr lang="en-US" sz="1500" dirty="0"/>
          </a:p>
        </p:txBody>
      </p:sp>
      <p:pic>
        <p:nvPicPr>
          <p:cNvPr id="9" name="Image 0" descr="/mnt/data/final_media/ppt/media/image9.png"/>
          <p:cNvPicPr>
            <a:picLocks noChangeAspect="1"/>
          </p:cNvPicPr>
          <p:nvPr/>
        </p:nvPicPr>
        <p:blipFill>
          <a:blip r:embed="rId3"/>
          <a:srcRect t="5355" b="5355"/>
          <a:stretch/>
        </p:blipFill>
        <p:spPr>
          <a:xfrm>
            <a:off x="2545080" y="3154680"/>
            <a:ext cx="2926080" cy="2148840"/>
          </a:xfrm>
          <a:prstGeom prst="rect">
            <a:avLst/>
          </a:prstGeom>
        </p:spPr>
      </p:pic>
      <p:pic>
        <p:nvPicPr>
          <p:cNvPr id="10" name="Image 1" descr="/mnt/data/final_media/ppt/media/image4.png"/>
          <p:cNvPicPr>
            <a:picLocks noChangeAspect="1"/>
          </p:cNvPicPr>
          <p:nvPr/>
        </p:nvPicPr>
        <p:blipFill>
          <a:blip r:embed="rId4"/>
          <a:srcRect t="14415" b="14414"/>
          <a:stretch/>
        </p:blipFill>
        <p:spPr>
          <a:xfrm>
            <a:off x="6339840" y="3154680"/>
            <a:ext cx="3444240" cy="2148840"/>
          </a:xfrm>
          <a:prstGeom prst="rect">
            <a:avLst/>
          </a:prstGeom>
        </p:spPr>
      </p:pic>
      <p:sp>
        <p:nvSpPr>
          <p:cNvPr id="12" name="Text 7"/>
          <p:cNvSpPr/>
          <p:nvPr/>
        </p:nvSpPr>
        <p:spPr>
          <a:xfrm>
            <a:off x="914400" y="5715000"/>
            <a:ext cx="10332720" cy="411480"/>
          </a:xfrm>
          <a:prstGeom prst="rect">
            <a:avLst/>
          </a:prstGeom>
          <a:noFill/>
          <a:ln/>
        </p:spPr>
        <p:txBody>
          <a:bodyPr wrap="square" lIns="254" tIns="254" rIns="254" bIns="254" rtlCol="0" anchor="t">
            <a:normAutofit fontScale="85000" lnSpcReduction="20000"/>
          </a:bodyPr>
          <a:lstStyle/>
          <a:p>
            <a:pPr marL="0" indent="0">
              <a:buNone/>
            </a:pPr>
            <a:r>
              <a:rPr lang="en-US" sz="1800" b="1" dirty="0">
                <a:solidFill>
                  <a:srgbClr val="FFFFFF"/>
                </a:solidFill>
              </a:rPr>
              <a:t>Impact: privacy-preserving, low-maintenance lawn care that uses targeted water or treatment only where the event occurred.</a:t>
            </a:r>
            <a:endParaRPr lang="en-US" sz="1800" dirty="0"/>
          </a:p>
        </p:txBody>
      </p:sp>
      <p:sp>
        <p:nvSpPr>
          <p:cNvPr id="13" name="Text 8"/>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2088</TotalTime>
  <Words>1326</Words>
  <Application>Microsoft Office PowerPoint</Application>
  <PresentationFormat>Widescreen</PresentationFormat>
  <Paragraphs>172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Consolas</vt:lpstr>
      <vt:lpstr>DaunPenh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Nereus-LC-540-AI Updated</dc:title>
  <dc:subject>Updated Nereus-LC presentation</dc:subject>
  <dc:creator>OpenAI</dc:creator>
  <cp:lastModifiedBy>Jesse Beneventi</cp:lastModifiedBy>
  <cp:revision>3</cp:revision>
  <dcterms:created xsi:type="dcterms:W3CDTF">2026-04-24T17:30:03Z</dcterms:created>
  <dcterms:modified xsi:type="dcterms:W3CDTF">2026-04-28T00:06:46Z</dcterms:modified>
</cp:coreProperties>
</file>